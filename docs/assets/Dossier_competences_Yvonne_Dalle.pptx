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10"/>
  </p:notesMasterIdLst>
  <p:sldIdLst>
    <p:sldId id="256" r:id="rId3"/>
    <p:sldId id="257" r:id="rId4"/>
    <p:sldId id="258" r:id="rId5"/>
    <p:sldId id="259" r:id="rId6"/>
    <p:sldId id="260" r:id="rId7"/>
    <p:sldId id="261" r:id="rId8"/>
    <p:sldId id="262" r:id="rId9"/>
  </p:sldIdLst>
  <p:sldSz cx="9144000" cy="5143500" type="screen16x9"/>
  <p:notesSz cx="6858000" cy="9144000"/>
  <p:embeddedFontLst>
    <p:embeddedFont>
      <p:font typeface="Aharoni" panose="02010803020104030203" pitchFamily="2" charset="-79"/>
      <p:bold r:id="rId11"/>
    </p:embeddedFont>
    <p:embeddedFont>
      <p:font typeface="Play" panose="020B0604020202020204" charset="0"/>
      <p:regular r:id="rId12"/>
      <p:bold r:id="rId13"/>
    </p:embeddedFont>
    <p:embeddedFont>
      <p:font typeface="Roboto" panose="02000000000000000000" pitchFamily="2"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9" d="100"/>
          <a:sy n="109" d="100"/>
        </p:scale>
        <p:origin x="734"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Master" Target="slideMasters/slideMaster2.xml"/><Relationship Id="rId16" Type="http://schemas.openxmlformats.org/officeDocument/2006/relationships/font" Target="fonts/font6.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2de41f0bc32_1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g2de41f0bc32_1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f415705882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3f415705882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2de41f0bc32_1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g2de41f0bc32_1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41570588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f4157058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2de41f0bc32_1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4" name="Google Shape;234;g2de41f0bc32_1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CCAF9861-A871-F2C8-6719-A88F0D3F698A}"/>
            </a:ext>
          </a:extLst>
        </p:cNvPr>
        <p:cNvGrpSpPr/>
        <p:nvPr/>
      </p:nvGrpSpPr>
      <p:grpSpPr>
        <a:xfrm>
          <a:off x="0" y="0"/>
          <a:ext cx="0" cy="0"/>
          <a:chOff x="0" y="0"/>
          <a:chExt cx="0" cy="0"/>
        </a:xfrm>
      </p:grpSpPr>
      <p:sp>
        <p:nvSpPr>
          <p:cNvPr id="211" name="Google Shape;211;g3f415705882_0_0:notes">
            <a:extLst>
              <a:ext uri="{FF2B5EF4-FFF2-40B4-BE49-F238E27FC236}">
                <a16:creationId xmlns:a16="http://schemas.microsoft.com/office/drawing/2014/main" id="{F5FC7AA4-BB6F-9153-5E75-D8C3AF6E29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f415705882_0_0:notes">
            <a:extLst>
              <a:ext uri="{FF2B5EF4-FFF2-40B4-BE49-F238E27FC236}">
                <a16:creationId xmlns:a16="http://schemas.microsoft.com/office/drawing/2014/main" id="{E0E96B12-2B99-BE25-A1BB-9ED6F5C28E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476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a:extLst>
            <a:ext uri="{FF2B5EF4-FFF2-40B4-BE49-F238E27FC236}">
              <a16:creationId xmlns:a16="http://schemas.microsoft.com/office/drawing/2014/main" id="{BB884642-4635-9438-AC76-11F028F2D166}"/>
            </a:ext>
          </a:extLst>
        </p:cNvPr>
        <p:cNvGrpSpPr/>
        <p:nvPr/>
      </p:nvGrpSpPr>
      <p:grpSpPr>
        <a:xfrm>
          <a:off x="0" y="0"/>
          <a:ext cx="0" cy="0"/>
          <a:chOff x="0" y="0"/>
          <a:chExt cx="0" cy="0"/>
        </a:xfrm>
      </p:grpSpPr>
      <p:sp>
        <p:nvSpPr>
          <p:cNvPr id="211" name="Google Shape;211;g3f415705882_0_0:notes">
            <a:extLst>
              <a:ext uri="{FF2B5EF4-FFF2-40B4-BE49-F238E27FC236}">
                <a16:creationId xmlns:a16="http://schemas.microsoft.com/office/drawing/2014/main" id="{2663FF54-4D22-92B7-619A-00C3EE6134B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g3f415705882_0_0:notes">
            <a:extLst>
              <a:ext uri="{FF2B5EF4-FFF2-40B4-BE49-F238E27FC236}">
                <a16:creationId xmlns:a16="http://schemas.microsoft.com/office/drawing/2014/main" id="{408B0B8E-0D74-6381-88FB-2CB1CF6EA6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9585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e de titre" type="title">
  <p:cSld name="TITL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8" name="Google Shape;58;p14"/>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re et contenu" type="obj">
  <p:cSld name="OBJEC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4" name="Google Shape;64;p1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5" name="Google Shape;65;p1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Google Shape;66;p1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Google Shape;67;p1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re de section" type="secHead">
  <p:cSld name="SECTION_HEADER">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Play"/>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Google Shape;70;p16"/>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757575"/>
              </a:buClr>
              <a:buSzPts val="1800"/>
              <a:buNone/>
              <a:defRPr sz="1800">
                <a:solidFill>
                  <a:srgbClr val="757575"/>
                </a:solidFill>
              </a:defRPr>
            </a:lvl1pPr>
            <a:lvl2pPr marL="914400" lvl="1" indent="-228600" algn="l">
              <a:lnSpc>
                <a:spcPct val="90000"/>
              </a:lnSpc>
              <a:spcBef>
                <a:spcPts val="400"/>
              </a:spcBef>
              <a:spcAft>
                <a:spcPts val="0"/>
              </a:spcAft>
              <a:buClr>
                <a:srgbClr val="757575"/>
              </a:buClr>
              <a:buSzPts val="1500"/>
              <a:buNone/>
              <a:defRPr sz="1500">
                <a:solidFill>
                  <a:srgbClr val="757575"/>
                </a:solidFill>
              </a:defRPr>
            </a:lvl2pPr>
            <a:lvl3pPr marL="1371600" lvl="2" indent="-228600" algn="l">
              <a:lnSpc>
                <a:spcPct val="90000"/>
              </a:lnSpc>
              <a:spcBef>
                <a:spcPts val="400"/>
              </a:spcBef>
              <a:spcAft>
                <a:spcPts val="0"/>
              </a:spcAft>
              <a:buClr>
                <a:srgbClr val="757575"/>
              </a:buClr>
              <a:buSzPts val="1400"/>
              <a:buNone/>
              <a:defRPr sz="1400">
                <a:solidFill>
                  <a:srgbClr val="757575"/>
                </a:solidFill>
              </a:defRPr>
            </a:lvl3pPr>
            <a:lvl4pPr marL="1828800" lvl="3" indent="-228600" algn="l">
              <a:lnSpc>
                <a:spcPct val="90000"/>
              </a:lnSpc>
              <a:spcBef>
                <a:spcPts val="400"/>
              </a:spcBef>
              <a:spcAft>
                <a:spcPts val="0"/>
              </a:spcAft>
              <a:buClr>
                <a:srgbClr val="757575"/>
              </a:buClr>
              <a:buSzPts val="1200"/>
              <a:buNone/>
              <a:defRPr sz="1200">
                <a:solidFill>
                  <a:srgbClr val="757575"/>
                </a:solidFill>
              </a:defRPr>
            </a:lvl4pPr>
            <a:lvl5pPr marL="2286000" lvl="4" indent="-228600" algn="l">
              <a:lnSpc>
                <a:spcPct val="90000"/>
              </a:lnSpc>
              <a:spcBef>
                <a:spcPts val="400"/>
              </a:spcBef>
              <a:spcAft>
                <a:spcPts val="0"/>
              </a:spcAft>
              <a:buClr>
                <a:srgbClr val="757575"/>
              </a:buClr>
              <a:buSzPts val="1200"/>
              <a:buNone/>
              <a:defRPr sz="1200">
                <a:solidFill>
                  <a:srgbClr val="757575"/>
                </a:solidFill>
              </a:defRPr>
            </a:lvl5pPr>
            <a:lvl6pPr marL="2743200" lvl="5" indent="-228600" algn="l">
              <a:lnSpc>
                <a:spcPct val="90000"/>
              </a:lnSpc>
              <a:spcBef>
                <a:spcPts val="400"/>
              </a:spcBef>
              <a:spcAft>
                <a:spcPts val="0"/>
              </a:spcAft>
              <a:buClr>
                <a:srgbClr val="757575"/>
              </a:buClr>
              <a:buSzPts val="1200"/>
              <a:buNone/>
              <a:defRPr sz="1200">
                <a:solidFill>
                  <a:srgbClr val="757575"/>
                </a:solidFill>
              </a:defRPr>
            </a:lvl6pPr>
            <a:lvl7pPr marL="3200400" lvl="6" indent="-228600" algn="l">
              <a:lnSpc>
                <a:spcPct val="90000"/>
              </a:lnSpc>
              <a:spcBef>
                <a:spcPts val="400"/>
              </a:spcBef>
              <a:spcAft>
                <a:spcPts val="0"/>
              </a:spcAft>
              <a:buClr>
                <a:srgbClr val="757575"/>
              </a:buClr>
              <a:buSzPts val="1200"/>
              <a:buNone/>
              <a:defRPr sz="1200">
                <a:solidFill>
                  <a:srgbClr val="757575"/>
                </a:solidFill>
              </a:defRPr>
            </a:lvl7pPr>
            <a:lvl8pPr marL="3657600" lvl="7" indent="-228600" algn="l">
              <a:lnSpc>
                <a:spcPct val="90000"/>
              </a:lnSpc>
              <a:spcBef>
                <a:spcPts val="400"/>
              </a:spcBef>
              <a:spcAft>
                <a:spcPts val="0"/>
              </a:spcAft>
              <a:buClr>
                <a:srgbClr val="757575"/>
              </a:buClr>
              <a:buSzPts val="1200"/>
              <a:buNone/>
              <a:defRPr sz="1200">
                <a:solidFill>
                  <a:srgbClr val="757575"/>
                </a:solidFill>
              </a:defRPr>
            </a:lvl8pPr>
            <a:lvl9pPr marL="4114800" lvl="8" indent="-228600" algn="l">
              <a:lnSpc>
                <a:spcPct val="90000"/>
              </a:lnSpc>
              <a:spcBef>
                <a:spcPts val="400"/>
              </a:spcBef>
              <a:spcAft>
                <a:spcPts val="0"/>
              </a:spcAft>
              <a:buClr>
                <a:srgbClr val="757575"/>
              </a:buClr>
              <a:buSzPts val="1200"/>
              <a:buNone/>
              <a:defRPr sz="1200">
                <a:solidFill>
                  <a:srgbClr val="757575"/>
                </a:solidFill>
              </a:defRPr>
            </a:lvl9pPr>
          </a:lstStyle>
          <a:p>
            <a:endParaRPr/>
          </a:p>
        </p:txBody>
      </p:sp>
      <p:sp>
        <p:nvSpPr>
          <p:cNvPr id="71" name="Google Shape;71;p1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Google Shape;72;p1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Google Shape;73;p1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eux contenus" type="twoObj">
  <p:cSld name="TWO_OBJECTS">
    <p:spTree>
      <p:nvGrpSpPr>
        <p:cNvPr id="1" name="Shape 74"/>
        <p:cNvGrpSpPr/>
        <p:nvPr/>
      </p:nvGrpSpPr>
      <p:grpSpPr>
        <a:xfrm>
          <a:off x="0" y="0"/>
          <a:ext cx="0" cy="0"/>
          <a:chOff x="0" y="0"/>
          <a:chExt cx="0" cy="0"/>
        </a:xfrm>
      </p:grpSpPr>
      <p:sp>
        <p:nvSpPr>
          <p:cNvPr id="75" name="Google Shape;75;p17"/>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7"/>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Google Shape;77;p17"/>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8" name="Google Shape;78;p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0" name="Google Shape;80;p1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ison" type="twoTxTwoObj">
  <p:cSld name="TWO_OBJECTS_WITH_TEXT">
    <p:spTree>
      <p:nvGrpSpPr>
        <p:cNvPr id="1" name="Shape 81"/>
        <p:cNvGrpSpPr/>
        <p:nvPr/>
      </p:nvGrpSpPr>
      <p:grpSpPr>
        <a:xfrm>
          <a:off x="0" y="0"/>
          <a:ext cx="0" cy="0"/>
          <a:chOff x="0" y="0"/>
          <a:chExt cx="0" cy="0"/>
        </a:xfrm>
      </p:grpSpPr>
      <p:sp>
        <p:nvSpPr>
          <p:cNvPr id="82" name="Google Shape;82;p18"/>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3" name="Google Shape;83;p18"/>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4" name="Google Shape;84;p18"/>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1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86" name="Google Shape;86;p18"/>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7" name="Google Shape;87;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8" name="Google Shape;88;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9" name="Google Shape;89;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re seul" type="titleOnly">
  <p:cSld name="TITLE_ONLY">
    <p:spTree>
      <p:nvGrpSpPr>
        <p:cNvPr id="1" name="Shape 90"/>
        <p:cNvGrpSpPr/>
        <p:nvPr/>
      </p:nvGrpSpPr>
      <p:grpSpPr>
        <a:xfrm>
          <a:off x="0" y="0"/>
          <a:ext cx="0" cy="0"/>
          <a:chOff x="0" y="0"/>
          <a:chExt cx="0" cy="0"/>
        </a:xfrm>
      </p:grpSpPr>
      <p:sp>
        <p:nvSpPr>
          <p:cNvPr id="91" name="Google Shape;91;p1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2" name="Google Shape;92;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3" name="Google Shape;93;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4" name="Google Shape;94;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Vide"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7" name="Google Shape;97;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8" name="Google Shape;98;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u avec légende"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1" name="Google Shape;101;p21"/>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02" name="Google Shape;102;p21"/>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03" name="Google Shape;103;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4" name="Google Shape;104;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 avec légende"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Play"/>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8" name="Google Shape;108;p22"/>
          <p:cNvSpPr>
            <a:spLocks noGrp="1"/>
          </p:cNvSpPr>
          <p:nvPr>
            <p:ph type="pic" idx="2"/>
          </p:nvPr>
        </p:nvSpPr>
        <p:spPr>
          <a:xfrm>
            <a:off x="3887391" y="740569"/>
            <a:ext cx="4629150" cy="3655219"/>
          </a:xfrm>
          <a:prstGeom prst="rect">
            <a:avLst/>
          </a:prstGeom>
          <a:noFill/>
          <a:ln>
            <a:noFill/>
          </a:ln>
        </p:spPr>
      </p:sp>
      <p:sp>
        <p:nvSpPr>
          <p:cNvPr id="109" name="Google Shape;109;p22"/>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0" name="Google Shape;110;p2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1" name="Google Shape;111;p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2" name="Google Shape;112;p2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re et texte vertical"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5" name="Google Shape;115;p23"/>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16" name="Google Shape;116;p2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8" name="Google Shape;118;p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re vertical et texte"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1" name="Google Shape;121;p24"/>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2" name="Google Shape;122;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Play"/>
              <a:buNone/>
              <a:defRPr sz="3300" b="0" i="0" u="none" strike="noStrike" cap="none">
                <a:solidFill>
                  <a:schemeClr val="dk1"/>
                </a:solidFill>
                <a:latin typeface="Play"/>
                <a:ea typeface="Play"/>
                <a:cs typeface="Play"/>
                <a:sym typeface="Play"/>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52" name="Google Shape;52;p13"/>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53" name="Google Shape;53;p1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757575"/>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757575"/>
                </a:solidFill>
                <a:latin typeface="Arial"/>
                <a:ea typeface="Arial"/>
                <a:cs typeface="Arial"/>
                <a:sym typeface="Arial"/>
              </a:defRPr>
            </a:lvl1pPr>
            <a:lvl2pPr marL="0" marR="0" lvl="1" indent="0" algn="r" rtl="0">
              <a:spcBef>
                <a:spcPts val="0"/>
              </a:spcBef>
              <a:buNone/>
              <a:defRPr sz="900" b="0" i="0" u="none" strike="noStrike" cap="none">
                <a:solidFill>
                  <a:srgbClr val="757575"/>
                </a:solidFill>
                <a:latin typeface="Arial"/>
                <a:ea typeface="Arial"/>
                <a:cs typeface="Arial"/>
                <a:sym typeface="Arial"/>
              </a:defRPr>
            </a:lvl2pPr>
            <a:lvl3pPr marL="0" marR="0" lvl="2" indent="0" algn="r" rtl="0">
              <a:spcBef>
                <a:spcPts val="0"/>
              </a:spcBef>
              <a:buNone/>
              <a:defRPr sz="900" b="0" i="0" u="none" strike="noStrike" cap="none">
                <a:solidFill>
                  <a:srgbClr val="757575"/>
                </a:solidFill>
                <a:latin typeface="Arial"/>
                <a:ea typeface="Arial"/>
                <a:cs typeface="Arial"/>
                <a:sym typeface="Arial"/>
              </a:defRPr>
            </a:lvl3pPr>
            <a:lvl4pPr marL="0" marR="0" lvl="3" indent="0" algn="r" rtl="0">
              <a:spcBef>
                <a:spcPts val="0"/>
              </a:spcBef>
              <a:buNone/>
              <a:defRPr sz="900" b="0" i="0" u="none" strike="noStrike" cap="none">
                <a:solidFill>
                  <a:srgbClr val="757575"/>
                </a:solidFill>
                <a:latin typeface="Arial"/>
                <a:ea typeface="Arial"/>
                <a:cs typeface="Arial"/>
                <a:sym typeface="Arial"/>
              </a:defRPr>
            </a:lvl4pPr>
            <a:lvl5pPr marL="0" marR="0" lvl="4" indent="0" algn="r" rtl="0">
              <a:spcBef>
                <a:spcPts val="0"/>
              </a:spcBef>
              <a:buNone/>
              <a:defRPr sz="900" b="0" i="0" u="none" strike="noStrike" cap="none">
                <a:solidFill>
                  <a:srgbClr val="757575"/>
                </a:solidFill>
                <a:latin typeface="Arial"/>
                <a:ea typeface="Arial"/>
                <a:cs typeface="Arial"/>
                <a:sym typeface="Arial"/>
              </a:defRPr>
            </a:lvl5pPr>
            <a:lvl6pPr marL="0" marR="0" lvl="5" indent="0" algn="r" rtl="0">
              <a:spcBef>
                <a:spcPts val="0"/>
              </a:spcBef>
              <a:buNone/>
              <a:defRPr sz="900" b="0" i="0" u="none" strike="noStrike" cap="none">
                <a:solidFill>
                  <a:srgbClr val="757575"/>
                </a:solidFill>
                <a:latin typeface="Arial"/>
                <a:ea typeface="Arial"/>
                <a:cs typeface="Arial"/>
                <a:sym typeface="Arial"/>
              </a:defRPr>
            </a:lvl6pPr>
            <a:lvl7pPr marL="0" marR="0" lvl="6" indent="0" algn="r" rtl="0">
              <a:spcBef>
                <a:spcPts val="0"/>
              </a:spcBef>
              <a:buNone/>
              <a:defRPr sz="900" b="0" i="0" u="none" strike="noStrike" cap="none">
                <a:solidFill>
                  <a:srgbClr val="757575"/>
                </a:solidFill>
                <a:latin typeface="Arial"/>
                <a:ea typeface="Arial"/>
                <a:cs typeface="Arial"/>
                <a:sym typeface="Arial"/>
              </a:defRPr>
            </a:lvl7pPr>
            <a:lvl8pPr marL="0" marR="0" lvl="7" indent="0" algn="r" rtl="0">
              <a:spcBef>
                <a:spcPts val="0"/>
              </a:spcBef>
              <a:buNone/>
              <a:defRPr sz="900" b="0" i="0" u="none" strike="noStrike" cap="none">
                <a:solidFill>
                  <a:srgbClr val="757575"/>
                </a:solidFill>
                <a:latin typeface="Arial"/>
                <a:ea typeface="Arial"/>
                <a:cs typeface="Arial"/>
                <a:sym typeface="Arial"/>
              </a:defRPr>
            </a:lvl8pPr>
            <a:lvl9pPr marL="0" marR="0" lvl="8" indent="0" algn="r" rtl="0">
              <a:spcBef>
                <a:spcPts val="0"/>
              </a:spcBef>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‹N°›</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jpe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7711900" y="-687137"/>
            <a:ext cx="1894450" cy="1764692"/>
          </a:xfrm>
          <a:prstGeom prst="rect">
            <a:avLst/>
          </a:prstGeom>
          <a:noFill/>
          <a:ln>
            <a:noFill/>
          </a:ln>
        </p:spPr>
      </p:pic>
      <p:pic>
        <p:nvPicPr>
          <p:cNvPr id="130" name="Google Shape;130;p25"/>
          <p:cNvPicPr preferRelativeResize="0"/>
          <p:nvPr/>
        </p:nvPicPr>
        <p:blipFill>
          <a:blip r:embed="rId4">
            <a:alphaModFix/>
          </a:blip>
          <a:stretch>
            <a:fillRect/>
          </a:stretch>
        </p:blipFill>
        <p:spPr>
          <a:xfrm>
            <a:off x="799725" y="-112050"/>
            <a:ext cx="3048000" cy="2800350"/>
          </a:xfrm>
          <a:prstGeom prst="rect">
            <a:avLst/>
          </a:prstGeom>
          <a:noFill/>
          <a:ln>
            <a:noFill/>
          </a:ln>
        </p:spPr>
      </p:pic>
      <p:sp>
        <p:nvSpPr>
          <p:cNvPr id="131" name="Google Shape;131;p25"/>
          <p:cNvSpPr/>
          <p:nvPr/>
        </p:nvSpPr>
        <p:spPr>
          <a:xfrm>
            <a:off x="1837250" y="1182275"/>
            <a:ext cx="7306800" cy="39612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32" name="Google Shape;132;p25"/>
          <p:cNvPicPr preferRelativeResize="0"/>
          <p:nvPr/>
        </p:nvPicPr>
        <p:blipFill>
          <a:blip r:embed="rId5">
            <a:alphaModFix/>
          </a:blip>
          <a:stretch>
            <a:fillRect/>
          </a:stretch>
        </p:blipFill>
        <p:spPr>
          <a:xfrm>
            <a:off x="4426773" y="19595"/>
            <a:ext cx="1575175" cy="1270508"/>
          </a:xfrm>
          <a:prstGeom prst="rect">
            <a:avLst/>
          </a:prstGeom>
          <a:noFill/>
          <a:ln>
            <a:noFill/>
          </a:ln>
        </p:spPr>
      </p:pic>
      <p:sp>
        <p:nvSpPr>
          <p:cNvPr id="133" name="Google Shape;133;p25"/>
          <p:cNvSpPr/>
          <p:nvPr/>
        </p:nvSpPr>
        <p:spPr>
          <a:xfrm>
            <a:off x="-1" y="0"/>
            <a:ext cx="2241607" cy="5143500"/>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lt1"/>
              </a:solidFill>
              <a:latin typeface="Arial"/>
              <a:ea typeface="Arial"/>
              <a:cs typeface="Arial"/>
              <a:sym typeface="Arial"/>
            </a:endParaRPr>
          </a:p>
        </p:txBody>
      </p:sp>
      <p:cxnSp>
        <p:nvCxnSpPr>
          <p:cNvPr id="134" name="Google Shape;134;p25"/>
          <p:cNvCxnSpPr/>
          <p:nvPr/>
        </p:nvCxnSpPr>
        <p:spPr>
          <a:xfrm>
            <a:off x="1894438" y="1293816"/>
            <a:ext cx="7249562" cy="0"/>
          </a:xfrm>
          <a:prstGeom prst="straightConnector1">
            <a:avLst/>
          </a:prstGeom>
          <a:noFill/>
          <a:ln w="57150" cap="flat" cmpd="sng">
            <a:solidFill>
              <a:srgbClr val="FF5733"/>
            </a:solidFill>
            <a:prstDash val="solid"/>
            <a:miter lim="800000"/>
            <a:headEnd type="none" w="sm" len="sm"/>
            <a:tailEnd type="none" w="sm" len="sm"/>
          </a:ln>
        </p:spPr>
      </p:cxnSp>
      <p:sp>
        <p:nvSpPr>
          <p:cNvPr id="135" name="Google Shape;135;p25"/>
          <p:cNvSpPr txBox="1"/>
          <p:nvPr/>
        </p:nvSpPr>
        <p:spPr>
          <a:xfrm>
            <a:off x="2298972" y="395341"/>
            <a:ext cx="2187796" cy="438551"/>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2400" b="0" i="0" u="none" strike="noStrike" cap="none" dirty="0">
                <a:solidFill>
                  <a:srgbClr val="FF5733"/>
                </a:solidFill>
                <a:latin typeface="Aharoni"/>
                <a:ea typeface="Aharoni"/>
                <a:cs typeface="Aharoni"/>
                <a:sym typeface="Aharoni"/>
              </a:rPr>
              <a:t>Yvonne DALLE</a:t>
            </a:r>
            <a:endParaRPr sz="2400" dirty="0"/>
          </a:p>
        </p:txBody>
      </p:sp>
      <p:sp>
        <p:nvSpPr>
          <p:cNvPr id="136" name="Google Shape;136;p25"/>
          <p:cNvSpPr txBox="1"/>
          <p:nvPr/>
        </p:nvSpPr>
        <p:spPr>
          <a:xfrm>
            <a:off x="2406273" y="738502"/>
            <a:ext cx="1779500" cy="34621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dirty="0">
                <a:solidFill>
                  <a:srgbClr val="3F3F3F"/>
                </a:solidFill>
                <a:latin typeface="Aharoni"/>
                <a:ea typeface="Aharoni"/>
                <a:cs typeface="Aharoni"/>
                <a:sym typeface="Aharoni"/>
              </a:rPr>
              <a:t>Data scientiste</a:t>
            </a:r>
            <a:endParaRPr sz="1800" dirty="0">
              <a:solidFill>
                <a:srgbClr val="3F3F3F"/>
              </a:solidFill>
              <a:latin typeface="Aharoni"/>
              <a:ea typeface="Aharoni"/>
              <a:cs typeface="Aharoni"/>
              <a:sym typeface="Aharoni"/>
            </a:endParaRPr>
          </a:p>
        </p:txBody>
      </p:sp>
      <p:sp>
        <p:nvSpPr>
          <p:cNvPr id="137" name="Google Shape;137;p25"/>
          <p:cNvSpPr txBox="1"/>
          <p:nvPr/>
        </p:nvSpPr>
        <p:spPr>
          <a:xfrm>
            <a:off x="4668780" y="39137"/>
            <a:ext cx="13359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dirty="0">
                <a:solidFill>
                  <a:schemeClr val="dk1"/>
                </a:solidFill>
                <a:latin typeface="Aharoni"/>
                <a:ea typeface="Aharoni"/>
                <a:cs typeface="Aharoni"/>
                <a:sym typeface="Aharoni"/>
              </a:rPr>
              <a:t>Expérience</a:t>
            </a:r>
            <a:endParaRPr sz="1100" dirty="0"/>
          </a:p>
        </p:txBody>
      </p:sp>
      <p:sp>
        <p:nvSpPr>
          <p:cNvPr id="138" name="Google Shape;138;p25"/>
          <p:cNvSpPr txBox="1"/>
          <p:nvPr/>
        </p:nvSpPr>
        <p:spPr>
          <a:xfrm>
            <a:off x="4905102" y="239286"/>
            <a:ext cx="775704" cy="68477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4000" dirty="0">
                <a:solidFill>
                  <a:schemeClr val="dk1"/>
                </a:solidFill>
              </a:rPr>
              <a:t>10</a:t>
            </a:r>
            <a:endParaRPr sz="4000" dirty="0"/>
          </a:p>
        </p:txBody>
      </p:sp>
      <p:sp>
        <p:nvSpPr>
          <p:cNvPr id="139" name="Google Shape;139;p25"/>
          <p:cNvSpPr txBox="1"/>
          <p:nvPr/>
        </p:nvSpPr>
        <p:spPr>
          <a:xfrm>
            <a:off x="5002763" y="802675"/>
            <a:ext cx="520800" cy="3462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800" dirty="0">
                <a:solidFill>
                  <a:schemeClr val="dk1"/>
                </a:solidFill>
                <a:latin typeface="Aharoni"/>
                <a:ea typeface="Aharoni"/>
                <a:cs typeface="Aharoni"/>
                <a:sym typeface="Aharoni"/>
              </a:rPr>
              <a:t>ans</a:t>
            </a:r>
            <a:endParaRPr sz="1100" dirty="0"/>
          </a:p>
        </p:txBody>
      </p:sp>
      <p:sp>
        <p:nvSpPr>
          <p:cNvPr id="140" name="Google Shape;140;p25"/>
          <p:cNvSpPr txBox="1"/>
          <p:nvPr/>
        </p:nvSpPr>
        <p:spPr>
          <a:xfrm>
            <a:off x="6951944" y="-19233"/>
            <a:ext cx="1332336" cy="25391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200" dirty="0">
                <a:solidFill>
                  <a:schemeClr val="dk1"/>
                </a:solidFill>
                <a:latin typeface="Aharoni"/>
                <a:ea typeface="Aharoni"/>
                <a:cs typeface="Aharoni"/>
                <a:sym typeface="Aharoni"/>
              </a:rPr>
              <a:t>Mes motivations</a:t>
            </a:r>
            <a:endParaRPr sz="1100" dirty="0"/>
          </a:p>
        </p:txBody>
      </p:sp>
      <p:sp>
        <p:nvSpPr>
          <p:cNvPr id="141" name="Google Shape;141;p25"/>
          <p:cNvSpPr txBox="1"/>
          <p:nvPr/>
        </p:nvSpPr>
        <p:spPr>
          <a:xfrm>
            <a:off x="6004680" y="219144"/>
            <a:ext cx="3136638" cy="1038716"/>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900" b="0" i="0" dirty="0">
                <a:solidFill>
                  <a:srgbClr val="3F3F3F"/>
                </a:solidFill>
                <a:latin typeface="Arial"/>
                <a:ea typeface="Arial"/>
                <a:cs typeface="Arial"/>
                <a:sym typeface="Arial"/>
              </a:rPr>
              <a:t>Passionné par la data et le machine learning, </a:t>
            </a:r>
            <a:r>
              <a:rPr lang="fr-FR" sz="900" b="0" i="0" dirty="0">
                <a:solidFill>
                  <a:srgbClr val="3F3F3F"/>
                </a:solidFill>
                <a:latin typeface="Arial"/>
                <a:ea typeface="Arial"/>
                <a:cs typeface="Arial"/>
                <a:sym typeface="Arial"/>
              </a:rPr>
              <a:t>je travaille sur des sujets de connaissance client, de qualité des données et d’intelligence artificielle. Mon parcours associe analyse statistique, compréhension des besoins métier et restitution aux décideurs. Je développe une spécialisation dans les assistants et agents IA appliqués aux opérations de l’assurance et de la mutualité.</a:t>
            </a:r>
            <a:endParaRPr sz="900" dirty="0">
              <a:solidFill>
                <a:srgbClr val="3F3F3F"/>
              </a:solidFill>
              <a:latin typeface="Arial"/>
              <a:ea typeface="Arial"/>
              <a:cs typeface="Arial"/>
              <a:sym typeface="Arial"/>
            </a:endParaRPr>
          </a:p>
        </p:txBody>
      </p:sp>
      <p:sp>
        <p:nvSpPr>
          <p:cNvPr id="143" name="Google Shape;143;p25"/>
          <p:cNvSpPr txBox="1"/>
          <p:nvPr/>
        </p:nvSpPr>
        <p:spPr>
          <a:xfrm>
            <a:off x="431787" y="2009584"/>
            <a:ext cx="10056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dirty="0">
                <a:solidFill>
                  <a:schemeClr val="lt1"/>
                </a:solidFill>
                <a:latin typeface="Arial"/>
                <a:ea typeface="Arial"/>
                <a:cs typeface="Arial"/>
                <a:sym typeface="Arial"/>
              </a:rPr>
              <a:t>Formation</a:t>
            </a:r>
            <a:endParaRPr sz="1100" dirty="0"/>
          </a:p>
        </p:txBody>
      </p:sp>
      <p:sp>
        <p:nvSpPr>
          <p:cNvPr id="144" name="Google Shape;144;p25"/>
          <p:cNvSpPr txBox="1"/>
          <p:nvPr/>
        </p:nvSpPr>
        <p:spPr>
          <a:xfrm>
            <a:off x="2269" y="2490110"/>
            <a:ext cx="2227170" cy="34621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Calibri"/>
                <a:ea typeface="Calibri"/>
                <a:cs typeface="Calibri"/>
                <a:sym typeface="Calibri"/>
              </a:rPr>
              <a:t>Docteur en machine learning </a:t>
            </a:r>
            <a:endParaRPr sz="1100" dirty="0"/>
          </a:p>
          <a:p>
            <a:pPr marL="0" marR="0" lvl="0" indent="0" algn="l" rtl="0">
              <a:spcBef>
                <a:spcPts val="0"/>
              </a:spcBef>
              <a:spcAft>
                <a:spcPts val="0"/>
              </a:spcAft>
              <a:buNone/>
            </a:pPr>
            <a:r>
              <a:rPr lang="en" sz="900" dirty="0">
                <a:solidFill>
                  <a:schemeClr val="lt1"/>
                </a:solidFill>
                <a:latin typeface="Calibri"/>
                <a:ea typeface="Calibri"/>
                <a:cs typeface="Calibri"/>
                <a:sym typeface="Calibri"/>
              </a:rPr>
              <a:t>-</a:t>
            </a:r>
            <a:r>
              <a:rPr lang="en" sz="900" b="0" i="0" u="none" strike="noStrike" dirty="0">
                <a:solidFill>
                  <a:schemeClr val="lt1"/>
                </a:solidFill>
                <a:latin typeface="Calibri"/>
                <a:ea typeface="Calibri"/>
                <a:cs typeface="Calibri"/>
                <a:sym typeface="Calibri"/>
              </a:rPr>
              <a:t> </a:t>
            </a:r>
            <a:r>
              <a:rPr lang="en" sz="900" b="1" i="0" u="none" strike="noStrike" dirty="0">
                <a:solidFill>
                  <a:schemeClr val="lt1"/>
                </a:solidFill>
                <a:latin typeface="Calibri"/>
                <a:ea typeface="Calibri"/>
                <a:cs typeface="Calibri"/>
                <a:sym typeface="Calibri"/>
              </a:rPr>
              <a:t>Université de Beihang Pekin</a:t>
            </a:r>
            <a:endParaRPr sz="900" b="1" dirty="0">
              <a:solidFill>
                <a:schemeClr val="lt1"/>
              </a:solidFill>
              <a:latin typeface="Arial"/>
              <a:ea typeface="Arial"/>
              <a:cs typeface="Arial"/>
              <a:sym typeface="Arial"/>
            </a:endParaRPr>
          </a:p>
        </p:txBody>
      </p:sp>
      <p:sp>
        <p:nvSpPr>
          <p:cNvPr id="145" name="Google Shape;145;p25"/>
          <p:cNvSpPr txBox="1"/>
          <p:nvPr/>
        </p:nvSpPr>
        <p:spPr>
          <a:xfrm>
            <a:off x="-16338" y="2779722"/>
            <a:ext cx="2217272" cy="34621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Calibri"/>
                <a:ea typeface="Calibri"/>
                <a:cs typeface="Calibri"/>
                <a:sym typeface="Calibri"/>
              </a:rPr>
              <a:t>I</a:t>
            </a:r>
            <a:r>
              <a:rPr lang="en" sz="900" b="0" i="0" u="none" strike="noStrike" dirty="0">
                <a:solidFill>
                  <a:schemeClr val="lt1"/>
                </a:solidFill>
                <a:latin typeface="Calibri"/>
                <a:ea typeface="Calibri"/>
                <a:cs typeface="Calibri"/>
                <a:sym typeface="Calibri"/>
              </a:rPr>
              <a:t>ngénieur en informatique/ statistique – </a:t>
            </a:r>
            <a:r>
              <a:rPr lang="en" sz="900" b="1" i="0" u="none" strike="noStrike" dirty="0">
                <a:solidFill>
                  <a:schemeClr val="lt1"/>
                </a:solidFill>
                <a:latin typeface="Calibri"/>
                <a:ea typeface="Calibri"/>
                <a:cs typeface="Calibri"/>
                <a:sym typeface="Calibri"/>
              </a:rPr>
              <a:t>Université Beihang</a:t>
            </a:r>
            <a:endParaRPr sz="900" b="1" dirty="0">
              <a:solidFill>
                <a:schemeClr val="lt1"/>
              </a:solidFill>
              <a:latin typeface="Arial"/>
              <a:ea typeface="Arial"/>
              <a:cs typeface="Arial"/>
              <a:sym typeface="Arial"/>
            </a:endParaRPr>
          </a:p>
        </p:txBody>
      </p:sp>
      <p:sp>
        <p:nvSpPr>
          <p:cNvPr id="146" name="Google Shape;146;p25"/>
          <p:cNvSpPr txBox="1"/>
          <p:nvPr/>
        </p:nvSpPr>
        <p:spPr>
          <a:xfrm>
            <a:off x="323678" y="3106490"/>
            <a:ext cx="12336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dirty="0">
                <a:solidFill>
                  <a:schemeClr val="lt1"/>
                </a:solidFill>
                <a:latin typeface="Arial"/>
                <a:ea typeface="Arial"/>
                <a:cs typeface="Arial"/>
                <a:sym typeface="Arial"/>
              </a:rPr>
              <a:t>Certifications</a:t>
            </a:r>
            <a:endParaRPr sz="1100" dirty="0"/>
          </a:p>
        </p:txBody>
      </p:sp>
      <p:sp>
        <p:nvSpPr>
          <p:cNvPr id="147" name="Google Shape;147;p25"/>
          <p:cNvSpPr txBox="1"/>
          <p:nvPr/>
        </p:nvSpPr>
        <p:spPr>
          <a:xfrm>
            <a:off x="-19046" y="3325837"/>
            <a:ext cx="2217272" cy="131571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dirty="0">
                <a:solidFill>
                  <a:schemeClr val="lt1"/>
                </a:solidFill>
                <a:latin typeface="Calibri"/>
                <a:ea typeface="Calibri"/>
                <a:cs typeface="Calibri"/>
                <a:sym typeface="Calibri"/>
              </a:rPr>
              <a:t>Langchain for LLM application development – 2023 | DeepLearning,AI</a:t>
            </a:r>
          </a:p>
          <a:p>
            <a:pPr marL="0" marR="0" lvl="0" indent="0" algn="l" rtl="0">
              <a:spcBef>
                <a:spcPts val="0"/>
              </a:spcBef>
              <a:spcAft>
                <a:spcPts val="0"/>
              </a:spcAft>
              <a:buNone/>
            </a:pPr>
            <a:r>
              <a:rPr lang="en" sz="900" dirty="0">
                <a:solidFill>
                  <a:schemeClr val="lt1"/>
                </a:solidFill>
                <a:latin typeface="Calibri"/>
                <a:ea typeface="Calibri"/>
                <a:cs typeface="Calibri"/>
                <a:sym typeface="Calibri"/>
              </a:rPr>
              <a:t>AZ-900 Azure Fundamentals – 2022 | Microsoft ChatGPT Prompt Engineering for Developers – 2023 | DeepLearning,AI</a:t>
            </a:r>
          </a:p>
          <a:p>
            <a:pPr marL="0" marR="0" lvl="0" indent="0" algn="l" rtl="0">
              <a:spcBef>
                <a:spcPts val="0"/>
              </a:spcBef>
              <a:spcAft>
                <a:spcPts val="0"/>
              </a:spcAft>
              <a:buNone/>
            </a:pPr>
            <a:r>
              <a:rPr lang="en" sz="900" dirty="0">
                <a:solidFill>
                  <a:schemeClr val="lt1"/>
                </a:solidFill>
                <a:latin typeface="Calibri"/>
                <a:ea typeface="Calibri"/>
                <a:cs typeface="Calibri"/>
                <a:sym typeface="Calibri"/>
              </a:rPr>
              <a:t>Generative AI with LLM – 2023 | DeepLearning,AILangchain chat avec vios données</a:t>
            </a:r>
          </a:p>
          <a:p>
            <a:pPr marL="0" marR="0" lvl="0" indent="0" algn="l" rtl="0">
              <a:spcBef>
                <a:spcPts val="0"/>
              </a:spcBef>
              <a:spcAft>
                <a:spcPts val="0"/>
              </a:spcAft>
              <a:buNone/>
            </a:pPr>
            <a:r>
              <a:rPr lang="en" sz="900" dirty="0">
                <a:solidFill>
                  <a:schemeClr val="lt1"/>
                </a:solidFill>
                <a:latin typeface="Calibri"/>
                <a:ea typeface="Calibri"/>
                <a:cs typeface="Calibri"/>
                <a:sym typeface="Calibri"/>
              </a:rPr>
              <a:t>Dataiku, Alteryx</a:t>
            </a:r>
            <a:endParaRPr sz="1100" dirty="0"/>
          </a:p>
        </p:txBody>
      </p:sp>
      <p:sp>
        <p:nvSpPr>
          <p:cNvPr id="149" name="Google Shape;149;p25"/>
          <p:cNvSpPr txBox="1"/>
          <p:nvPr/>
        </p:nvSpPr>
        <p:spPr>
          <a:xfrm>
            <a:off x="461678" y="4650401"/>
            <a:ext cx="957600" cy="2847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400" dirty="0">
                <a:solidFill>
                  <a:schemeClr val="lt1"/>
                </a:solidFill>
                <a:latin typeface="Arial"/>
                <a:ea typeface="Arial"/>
                <a:cs typeface="Arial"/>
                <a:sym typeface="Arial"/>
              </a:rPr>
              <a:t>Langues</a:t>
            </a:r>
            <a:endParaRPr sz="1100" dirty="0"/>
          </a:p>
        </p:txBody>
      </p:sp>
      <p:sp>
        <p:nvSpPr>
          <p:cNvPr id="150" name="Google Shape;150;p25"/>
          <p:cNvSpPr txBox="1"/>
          <p:nvPr/>
        </p:nvSpPr>
        <p:spPr>
          <a:xfrm>
            <a:off x="-27880" y="4869889"/>
            <a:ext cx="7035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1" dirty="0">
                <a:solidFill>
                  <a:schemeClr val="lt1"/>
                </a:solidFill>
                <a:latin typeface="Calibri"/>
                <a:ea typeface="Calibri"/>
                <a:cs typeface="Calibri"/>
                <a:sym typeface="Calibri"/>
              </a:rPr>
              <a:t>Français</a:t>
            </a:r>
            <a:endParaRPr sz="1100" dirty="0"/>
          </a:p>
        </p:txBody>
      </p:sp>
      <p:sp>
        <p:nvSpPr>
          <p:cNvPr id="151" name="Google Shape;151;p25"/>
          <p:cNvSpPr txBox="1"/>
          <p:nvPr/>
        </p:nvSpPr>
        <p:spPr>
          <a:xfrm>
            <a:off x="608485" y="4872934"/>
            <a:ext cx="5784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1" dirty="0">
                <a:solidFill>
                  <a:schemeClr val="lt1"/>
                </a:solidFill>
                <a:latin typeface="Calibri"/>
                <a:ea typeface="Calibri"/>
                <a:cs typeface="Calibri"/>
                <a:sym typeface="Calibri"/>
              </a:rPr>
              <a:t>Anglais</a:t>
            </a:r>
            <a:endParaRPr sz="900" b="1" dirty="0">
              <a:solidFill>
                <a:schemeClr val="lt1"/>
              </a:solidFill>
              <a:latin typeface="Arial"/>
              <a:ea typeface="Arial"/>
              <a:cs typeface="Arial"/>
              <a:sym typeface="Arial"/>
            </a:endParaRPr>
          </a:p>
        </p:txBody>
      </p:sp>
      <p:sp>
        <p:nvSpPr>
          <p:cNvPr id="152" name="Google Shape;152;p25"/>
          <p:cNvSpPr txBox="1"/>
          <p:nvPr/>
        </p:nvSpPr>
        <p:spPr>
          <a:xfrm>
            <a:off x="2895350" y="1286098"/>
            <a:ext cx="1720663" cy="30008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dirty="0">
                <a:solidFill>
                  <a:schemeClr val="dk1"/>
                </a:solidFill>
                <a:latin typeface="Aharoni"/>
                <a:ea typeface="Aharoni"/>
                <a:cs typeface="Aharoni"/>
                <a:sym typeface="Aharoni"/>
              </a:rPr>
              <a:t>Compétences clés</a:t>
            </a:r>
            <a:endParaRPr sz="1100" dirty="0"/>
          </a:p>
        </p:txBody>
      </p:sp>
      <p:sp>
        <p:nvSpPr>
          <p:cNvPr id="153" name="Google Shape;153;p25"/>
          <p:cNvSpPr txBox="1"/>
          <p:nvPr/>
        </p:nvSpPr>
        <p:spPr>
          <a:xfrm>
            <a:off x="2257943" y="1566213"/>
            <a:ext cx="3554160" cy="2700709"/>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900" b="0" i="0" dirty="0">
                <a:solidFill>
                  <a:srgbClr val="FF5733"/>
                </a:solidFill>
                <a:latin typeface="Arial"/>
                <a:ea typeface="Arial"/>
                <a:cs typeface="Arial"/>
                <a:sym typeface="Arial"/>
              </a:rPr>
              <a:t>Techniques : </a:t>
            </a:r>
            <a:endParaRPr sz="900" b="0" i="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i="0" dirty="0">
                <a:solidFill>
                  <a:schemeClr val="dk1"/>
                </a:solidFill>
                <a:latin typeface="Arial"/>
                <a:ea typeface="Arial"/>
                <a:cs typeface="Arial"/>
                <a:sym typeface="Arial"/>
              </a:rPr>
              <a:t>Langages : </a:t>
            </a:r>
            <a:r>
              <a:rPr lang="en" sz="900" b="0" i="0" dirty="0">
                <a:solidFill>
                  <a:schemeClr val="dk1"/>
                </a:solidFill>
                <a:latin typeface="Arial"/>
                <a:ea typeface="Arial"/>
                <a:cs typeface="Arial"/>
                <a:sym typeface="Arial"/>
              </a:rPr>
              <a:t>Python, R, Java, Javascript, Shell, HTML/CSS</a:t>
            </a:r>
            <a:endParaRPr sz="900" b="0" i="0" dirty="0">
              <a:solidFill>
                <a:schemeClr val="dk1"/>
              </a:solidFill>
              <a:latin typeface="Arial"/>
              <a:ea typeface="Arial"/>
              <a:cs typeface="Arial"/>
              <a:sym typeface="Arial"/>
            </a:endParaRPr>
          </a:p>
          <a:p>
            <a:pPr marL="215900" lvl="0" indent="-209550" algn="just">
              <a:buClr>
                <a:schemeClr val="dk1"/>
              </a:buClr>
              <a:buSzPts val="900"/>
              <a:buChar char="•"/>
            </a:pPr>
            <a:r>
              <a:rPr lang="en" sz="900" b="1" dirty="0">
                <a:solidFill>
                  <a:schemeClr val="dk1"/>
                </a:solidFill>
              </a:rPr>
              <a:t>GenAI : </a:t>
            </a:r>
            <a:r>
              <a:rPr lang="en" sz="900" dirty="0">
                <a:solidFill>
                  <a:schemeClr val="dk1"/>
                </a:solidFill>
              </a:rPr>
              <a:t>LangChain, </a:t>
            </a:r>
            <a:r>
              <a:rPr lang="fr-FR" sz="900" dirty="0">
                <a:solidFill>
                  <a:schemeClr val="dk1"/>
                </a:solidFill>
              </a:rPr>
              <a:t>LLM, RAG, agents IA, OCR, anonymisation et </a:t>
            </a:r>
            <a:r>
              <a:rPr lang="fr-FR" sz="900" dirty="0" err="1">
                <a:solidFill>
                  <a:schemeClr val="dk1"/>
                </a:solidFill>
              </a:rPr>
              <a:t>pseudonymisation</a:t>
            </a:r>
            <a:r>
              <a:rPr lang="fr-FR" sz="900" dirty="0">
                <a:solidFill>
                  <a:schemeClr val="dk1"/>
                </a:solidFill>
              </a:rPr>
              <a:t>, </a:t>
            </a:r>
            <a:r>
              <a:rPr lang="fr-FR" sz="900" dirty="0" err="1">
                <a:solidFill>
                  <a:schemeClr val="dk1"/>
                </a:solidFill>
              </a:rPr>
              <a:t>LlamaIndex</a:t>
            </a:r>
            <a:r>
              <a:rPr lang="fr-FR" sz="900" dirty="0">
                <a:solidFill>
                  <a:schemeClr val="dk1"/>
                </a:solidFill>
              </a:rPr>
              <a:t>, </a:t>
            </a:r>
            <a:r>
              <a:rPr lang="fr-FR" sz="900" dirty="0" err="1">
                <a:solidFill>
                  <a:schemeClr val="dk1"/>
                </a:solidFill>
              </a:rPr>
              <a:t>CrewAI</a:t>
            </a:r>
            <a:r>
              <a:rPr lang="fr-FR" sz="900" dirty="0">
                <a:solidFill>
                  <a:schemeClr val="dk1"/>
                </a:solidFill>
              </a:rPr>
              <a:t>, </a:t>
            </a:r>
            <a:r>
              <a:rPr lang="fr-FR" sz="900" dirty="0" err="1">
                <a:solidFill>
                  <a:schemeClr val="dk1"/>
                </a:solidFill>
              </a:rPr>
              <a:t>LangSmith</a:t>
            </a:r>
            <a:r>
              <a:rPr lang="fr-FR" sz="900" dirty="0">
                <a:solidFill>
                  <a:schemeClr val="dk1"/>
                </a:solidFill>
              </a:rPr>
              <a:t> et n8n local</a:t>
            </a:r>
            <a:endParaRPr sz="900" dirty="0">
              <a:solidFill>
                <a:schemeClr val="dk1"/>
              </a:solidFil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Manipulation des données : </a:t>
            </a:r>
            <a:r>
              <a:rPr lang="en" sz="900" dirty="0">
                <a:solidFill>
                  <a:schemeClr val="dk1"/>
                </a:solidFill>
                <a:latin typeface="Arial"/>
                <a:ea typeface="Arial"/>
                <a:cs typeface="Arial"/>
                <a:sym typeface="Arial"/>
              </a:rPr>
              <a:t>SQL, BigQuery, Pandas, Numpy, Spark, </a:t>
            </a:r>
            <a:r>
              <a:rPr lang="fr-FR" sz="900" dirty="0">
                <a:solidFill>
                  <a:schemeClr val="dk1"/>
                </a:solidFill>
                <a:latin typeface="Arial"/>
                <a:ea typeface="Arial"/>
                <a:cs typeface="Arial"/>
                <a:sym typeface="Arial"/>
              </a:rPr>
              <a:t>régression logistique, </a:t>
            </a:r>
            <a:r>
              <a:rPr lang="fr-FR" sz="900" dirty="0" err="1">
                <a:solidFill>
                  <a:schemeClr val="dk1"/>
                </a:solidFill>
                <a:latin typeface="Arial"/>
                <a:ea typeface="Arial"/>
                <a:cs typeface="Arial"/>
                <a:sym typeface="Arial"/>
              </a:rPr>
              <a:t>XGBoost</a:t>
            </a:r>
            <a:r>
              <a:rPr lang="fr-FR" sz="900" dirty="0">
                <a:solidFill>
                  <a:schemeClr val="dk1"/>
                </a:solidFill>
                <a:latin typeface="Arial"/>
                <a:ea typeface="Arial"/>
                <a:cs typeface="Arial"/>
                <a:sym typeface="Arial"/>
              </a:rPr>
              <a:t>, classification, clustering hiérarchique, </a:t>
            </a:r>
            <a:r>
              <a:rPr lang="fr-FR" sz="900" dirty="0" err="1">
                <a:solidFill>
                  <a:schemeClr val="dk1"/>
                </a:solidFill>
                <a:latin typeface="Arial"/>
                <a:ea typeface="Arial"/>
                <a:cs typeface="Arial"/>
                <a:sym typeface="Arial"/>
              </a:rPr>
              <a:t>scoring</a:t>
            </a:r>
            <a:r>
              <a:rPr lang="fr-FR" sz="900" dirty="0">
                <a:solidFill>
                  <a:schemeClr val="dk1"/>
                </a:solidFill>
                <a:latin typeface="Arial"/>
                <a:ea typeface="Arial"/>
                <a:cs typeface="Arial"/>
                <a:sym typeface="Arial"/>
              </a:rPr>
              <a:t>, effets marginaux, tests et expérimentation A/B, NLP et analyse thématique, </a:t>
            </a:r>
            <a:endParaRPr sz="900" dirty="0"/>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Visualisation des données : </a:t>
            </a:r>
            <a:r>
              <a:rPr lang="en" sz="900" dirty="0">
                <a:solidFill>
                  <a:schemeClr val="dk1"/>
                </a:solidFill>
                <a:latin typeface="Arial"/>
                <a:ea typeface="Arial"/>
                <a:cs typeface="Arial"/>
                <a:sym typeface="Arial"/>
              </a:rPr>
              <a:t>Matplotlib, Seaborn</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Machine learning : </a:t>
            </a:r>
            <a:r>
              <a:rPr lang="en" sz="900" dirty="0">
                <a:solidFill>
                  <a:schemeClr val="dk1"/>
                </a:solidFill>
                <a:latin typeface="Arial"/>
                <a:ea typeface="Arial"/>
                <a:cs typeface="Arial"/>
                <a:sym typeface="Arial"/>
              </a:rPr>
              <a:t>Keras, Tensorflow, Sklearn</a:t>
            </a:r>
            <a:endParaRPr sz="900" dirty="0"/>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Tests : </a:t>
            </a:r>
            <a:r>
              <a:rPr lang="en" sz="900" dirty="0">
                <a:solidFill>
                  <a:schemeClr val="dk1"/>
                </a:solidFill>
                <a:latin typeface="Arial"/>
                <a:ea typeface="Arial"/>
                <a:cs typeface="Arial"/>
                <a:sym typeface="Arial"/>
              </a:rPr>
              <a:t>Black, Pylint, Pytest</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API : </a:t>
            </a:r>
            <a:r>
              <a:rPr lang="en" sz="900" dirty="0">
                <a:solidFill>
                  <a:schemeClr val="dk1"/>
                </a:solidFill>
                <a:latin typeface="Arial"/>
                <a:ea typeface="Arial"/>
                <a:cs typeface="Arial"/>
                <a:sym typeface="Arial"/>
              </a:rPr>
              <a:t>FastAPI, pydantic</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Prototype : </a:t>
            </a:r>
            <a:r>
              <a:rPr lang="en" sz="900" dirty="0">
                <a:solidFill>
                  <a:schemeClr val="dk1"/>
                </a:solidFill>
                <a:latin typeface="Arial"/>
                <a:ea typeface="Arial"/>
                <a:cs typeface="Arial"/>
                <a:sym typeface="Arial"/>
              </a:rPr>
              <a:t>Flask, Dash, RShiny</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Cloud : </a:t>
            </a:r>
            <a:r>
              <a:rPr lang="en" sz="900" dirty="0">
                <a:solidFill>
                  <a:schemeClr val="dk1"/>
                </a:solidFill>
                <a:latin typeface="Arial"/>
                <a:ea typeface="Arial"/>
                <a:cs typeface="Arial"/>
                <a:sym typeface="Arial"/>
              </a:rPr>
              <a:t>Google Cloud Plateform, Amazon Web Services, Render, Azure</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Orchestration : </a:t>
            </a:r>
            <a:r>
              <a:rPr lang="en" sz="900" dirty="0">
                <a:solidFill>
                  <a:schemeClr val="dk1"/>
                </a:solidFill>
                <a:latin typeface="Arial"/>
                <a:ea typeface="Arial"/>
                <a:cs typeface="Arial"/>
                <a:sym typeface="Arial"/>
              </a:rPr>
              <a:t>Airflow</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Gestion du code: </a:t>
            </a:r>
            <a:r>
              <a:rPr lang="en" sz="900" dirty="0">
                <a:solidFill>
                  <a:schemeClr val="dk1"/>
                </a:solidFill>
                <a:latin typeface="Arial"/>
                <a:ea typeface="Arial"/>
                <a:cs typeface="Arial"/>
                <a:sym typeface="Arial"/>
              </a:rPr>
              <a:t>Git, GithubAction</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Gestion de l’environement : </a:t>
            </a:r>
            <a:r>
              <a:rPr lang="en" sz="900" dirty="0">
                <a:solidFill>
                  <a:schemeClr val="dk1"/>
                </a:solidFill>
                <a:latin typeface="Arial"/>
                <a:ea typeface="Arial"/>
                <a:cs typeface="Arial"/>
                <a:sym typeface="Arial"/>
              </a:rPr>
              <a:t>Docker, Poetry</a:t>
            </a:r>
            <a:endParaRPr sz="900" dirty="0">
              <a:solidFill>
                <a:schemeClr val="dk1"/>
              </a:solidFill>
              <a:latin typeface="Arial"/>
              <a:ea typeface="Arial"/>
              <a:cs typeface="Arial"/>
              <a:sym typeface="Arial"/>
            </a:endParaRPr>
          </a:p>
        </p:txBody>
      </p:sp>
      <p:sp>
        <p:nvSpPr>
          <p:cNvPr id="154" name="Google Shape;154;p25"/>
          <p:cNvSpPr txBox="1"/>
          <p:nvPr/>
        </p:nvSpPr>
        <p:spPr>
          <a:xfrm>
            <a:off x="2260578" y="4278180"/>
            <a:ext cx="3527128" cy="762000"/>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900" b="0" i="0" dirty="0">
                <a:solidFill>
                  <a:srgbClr val="FF5733"/>
                </a:solidFill>
                <a:latin typeface="Arial"/>
                <a:ea typeface="Arial"/>
                <a:cs typeface="Arial"/>
                <a:sym typeface="Arial"/>
              </a:rPr>
              <a:t>Fonctionnelles :</a:t>
            </a:r>
            <a:endParaRPr sz="900" b="0" i="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i="0" dirty="0">
                <a:solidFill>
                  <a:schemeClr val="dk1"/>
                </a:solidFill>
                <a:latin typeface="Arial"/>
                <a:ea typeface="Arial"/>
                <a:cs typeface="Arial"/>
                <a:sym typeface="Arial"/>
              </a:rPr>
              <a:t>Méthodologie : </a:t>
            </a:r>
            <a:r>
              <a:rPr lang="en" sz="900" b="0" i="0" dirty="0">
                <a:solidFill>
                  <a:schemeClr val="dk1"/>
                </a:solidFill>
                <a:latin typeface="Arial"/>
                <a:ea typeface="Arial"/>
                <a:cs typeface="Arial"/>
                <a:sym typeface="Arial"/>
              </a:rPr>
              <a:t>Agile Jira,/Scrum</a:t>
            </a:r>
            <a:endParaRPr sz="900" dirty="0"/>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Machine learning : </a:t>
            </a:r>
            <a:r>
              <a:rPr lang="en" sz="900" dirty="0">
                <a:solidFill>
                  <a:schemeClr val="dk1"/>
                </a:solidFill>
                <a:latin typeface="Arial"/>
                <a:ea typeface="Arial"/>
                <a:cs typeface="Arial"/>
                <a:sym typeface="Arial"/>
              </a:rPr>
              <a:t>NLP, Computer vision, Deep learning</a:t>
            </a:r>
            <a:endParaRPr sz="900" dirty="0">
              <a:solidFill>
                <a:schemeClr val="dk1"/>
              </a:solidFill>
              <a:latin typeface="Arial"/>
              <a:ea typeface="Arial"/>
              <a:cs typeface="Arial"/>
              <a:sym typeface="Arial"/>
            </a:endParaRPr>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Communication : </a:t>
            </a:r>
            <a:r>
              <a:rPr lang="en" sz="900" dirty="0">
                <a:solidFill>
                  <a:schemeClr val="dk1"/>
                </a:solidFill>
                <a:latin typeface="Arial"/>
                <a:ea typeface="Arial"/>
                <a:cs typeface="Arial"/>
                <a:sym typeface="Arial"/>
              </a:rPr>
              <a:t>Vulgarisation d’un sujet technique</a:t>
            </a:r>
            <a:endParaRPr sz="900" dirty="0"/>
          </a:p>
          <a:p>
            <a:pPr marL="215900" marR="0" lvl="0" indent="-209550" algn="just" rtl="0">
              <a:spcBef>
                <a:spcPts val="0"/>
              </a:spcBef>
              <a:spcAft>
                <a:spcPts val="0"/>
              </a:spcAft>
              <a:buClr>
                <a:schemeClr val="dk1"/>
              </a:buClr>
              <a:buSzPts val="900"/>
              <a:buFont typeface="Arial"/>
              <a:buChar char="•"/>
            </a:pPr>
            <a:r>
              <a:rPr lang="en" sz="900" b="1" dirty="0">
                <a:solidFill>
                  <a:schemeClr val="dk1"/>
                </a:solidFill>
                <a:latin typeface="Arial"/>
                <a:ea typeface="Arial"/>
                <a:cs typeface="Arial"/>
                <a:sym typeface="Arial"/>
              </a:rPr>
              <a:t>Veille technologique : </a:t>
            </a:r>
            <a:r>
              <a:rPr lang="en" sz="900" dirty="0">
                <a:solidFill>
                  <a:schemeClr val="dk1"/>
                </a:solidFill>
                <a:latin typeface="Arial"/>
                <a:ea typeface="Arial"/>
                <a:cs typeface="Arial"/>
                <a:sym typeface="Arial"/>
              </a:rPr>
              <a:t>Synthétiser l’état de l’art d’un sujet</a:t>
            </a:r>
            <a:endParaRPr sz="900" dirty="0"/>
          </a:p>
        </p:txBody>
      </p:sp>
      <p:sp>
        <p:nvSpPr>
          <p:cNvPr id="155" name="Google Shape;155;p25"/>
          <p:cNvSpPr txBox="1"/>
          <p:nvPr/>
        </p:nvSpPr>
        <p:spPr>
          <a:xfrm>
            <a:off x="6015064" y="1285007"/>
            <a:ext cx="2750994" cy="300082"/>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a:solidFill>
                  <a:schemeClr val="dk1"/>
                </a:solidFill>
                <a:latin typeface="Aharoni"/>
                <a:ea typeface="Aharoni"/>
                <a:cs typeface="Aharoni"/>
                <a:sym typeface="Aharoni"/>
              </a:rPr>
              <a:t>Expériences professionnelles</a:t>
            </a:r>
            <a:endParaRPr sz="1100"/>
          </a:p>
        </p:txBody>
      </p:sp>
      <p:sp>
        <p:nvSpPr>
          <p:cNvPr id="156" name="Google Shape;156;p25"/>
          <p:cNvSpPr txBox="1"/>
          <p:nvPr/>
        </p:nvSpPr>
        <p:spPr>
          <a:xfrm>
            <a:off x="6001948" y="1638625"/>
            <a:ext cx="2986830" cy="1038716"/>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900" b="0" i="0" dirty="0">
                <a:solidFill>
                  <a:srgbClr val="FF5733"/>
                </a:solidFill>
                <a:latin typeface="Arial"/>
                <a:ea typeface="Arial"/>
                <a:cs typeface="Arial"/>
                <a:sym typeface="Arial"/>
              </a:rPr>
              <a:t>Groupe VYV (MGEN/Harmonie Mutuelle/ MNT: VYV3/ UMR/  MMG/ Groupe Arcade :</a:t>
            </a:r>
            <a:r>
              <a:rPr lang="en" sz="900" b="1" i="0" dirty="0">
                <a:solidFill>
                  <a:schemeClr val="dk1"/>
                </a:solidFill>
                <a:latin typeface="Arial"/>
                <a:ea typeface="Arial"/>
                <a:cs typeface="Arial"/>
                <a:sym typeface="Arial"/>
              </a:rPr>
              <a:t>– Data scientist (5</a:t>
            </a:r>
            <a:r>
              <a:rPr lang="en" sz="900" b="1" dirty="0">
                <a:solidFill>
                  <a:schemeClr val="dk1"/>
                </a:solidFill>
              </a:rPr>
              <a:t> ans 6</a:t>
            </a:r>
            <a:r>
              <a:rPr lang="en" sz="900" b="1" i="0" dirty="0">
                <a:solidFill>
                  <a:schemeClr val="dk1"/>
                </a:solidFill>
                <a:latin typeface="Arial"/>
                <a:ea typeface="Arial"/>
                <a:cs typeface="Arial"/>
                <a:sym typeface="Arial"/>
              </a:rPr>
              <a:t> mois)</a:t>
            </a:r>
            <a:endParaRPr sz="900" dirty="0"/>
          </a:p>
          <a:p>
            <a:pPr algn="just"/>
            <a:r>
              <a:rPr lang="fr-FR" sz="900" dirty="0">
                <a:solidFill>
                  <a:schemeClr val="dk1"/>
                </a:solidFill>
              </a:rPr>
              <a:t>Qualité des données par Agent IA +</a:t>
            </a:r>
            <a:r>
              <a:rPr lang="en" sz="900" dirty="0">
                <a:solidFill>
                  <a:schemeClr val="dk1"/>
                </a:solidFill>
              </a:rPr>
              <a:t> Analyse des verbatims + Evaluation des programmes de prévention + </a:t>
            </a:r>
            <a:endParaRPr lang="fr-FR" sz="900" dirty="0"/>
          </a:p>
          <a:p>
            <a:pPr marL="0" marR="0" lvl="0" indent="0" algn="just" rtl="0">
              <a:spcBef>
                <a:spcPts val="0"/>
              </a:spcBef>
              <a:spcAft>
                <a:spcPts val="0"/>
              </a:spcAft>
              <a:buNone/>
            </a:pPr>
            <a:r>
              <a:rPr lang="en" sz="900" dirty="0">
                <a:solidFill>
                  <a:schemeClr val="dk1"/>
                </a:solidFill>
              </a:rPr>
              <a:t>+ RAG + agentique +</a:t>
            </a:r>
            <a:endParaRPr sz="900" dirty="0"/>
          </a:p>
        </p:txBody>
      </p:sp>
      <p:sp>
        <p:nvSpPr>
          <p:cNvPr id="157" name="Google Shape;157;p25"/>
          <p:cNvSpPr txBox="1"/>
          <p:nvPr/>
        </p:nvSpPr>
        <p:spPr>
          <a:xfrm>
            <a:off x="6017782" y="2734509"/>
            <a:ext cx="2920588" cy="484718"/>
          </a:xfrm>
          <a:prstGeom prst="rect">
            <a:avLst/>
          </a:prstGeom>
          <a:noFill/>
          <a:ln>
            <a:noFill/>
          </a:ln>
        </p:spPr>
        <p:txBody>
          <a:bodyPr spcFirstLastPara="1" wrap="square" lIns="68575" tIns="34275" rIns="68575" bIns="34275" anchor="t" anchorCtr="0">
            <a:spAutoFit/>
          </a:bodyPr>
          <a:lstStyle/>
          <a:p>
            <a:pPr marL="0" marR="0" lvl="0" indent="0" algn="just" rtl="0">
              <a:spcBef>
                <a:spcPts val="0"/>
              </a:spcBef>
              <a:spcAft>
                <a:spcPts val="0"/>
              </a:spcAft>
              <a:buNone/>
            </a:pPr>
            <a:r>
              <a:rPr lang="en" sz="900" b="0" i="0" dirty="0">
                <a:solidFill>
                  <a:srgbClr val="FF5733"/>
                </a:solidFill>
                <a:latin typeface="Arial"/>
                <a:ea typeface="Arial"/>
                <a:cs typeface="Arial"/>
                <a:sym typeface="Arial"/>
              </a:rPr>
              <a:t>Euronews </a:t>
            </a:r>
            <a:r>
              <a:rPr lang="en" sz="900" b="1" i="0" dirty="0">
                <a:solidFill>
                  <a:schemeClr val="dk1"/>
                </a:solidFill>
                <a:latin typeface="Arial"/>
                <a:ea typeface="Arial"/>
                <a:cs typeface="Arial"/>
                <a:sym typeface="Arial"/>
              </a:rPr>
              <a:t>– Data scientist (</a:t>
            </a:r>
            <a:r>
              <a:rPr lang="en" sz="900" b="1" dirty="0">
                <a:solidFill>
                  <a:schemeClr val="dk1"/>
                </a:solidFill>
              </a:rPr>
              <a:t> 6 </a:t>
            </a:r>
            <a:r>
              <a:rPr lang="en" sz="900" b="1" i="0" dirty="0">
                <a:solidFill>
                  <a:schemeClr val="dk1"/>
                </a:solidFill>
                <a:latin typeface="Arial"/>
                <a:ea typeface="Arial"/>
                <a:cs typeface="Arial"/>
                <a:sym typeface="Arial"/>
              </a:rPr>
              <a:t>mois)</a:t>
            </a:r>
            <a:endParaRPr sz="900" dirty="0"/>
          </a:p>
          <a:p>
            <a:pPr marL="0" marR="0" lvl="0" indent="0" algn="just" rtl="0">
              <a:spcBef>
                <a:spcPts val="0"/>
              </a:spcBef>
              <a:spcAft>
                <a:spcPts val="0"/>
              </a:spcAft>
              <a:buNone/>
            </a:pPr>
            <a:r>
              <a:rPr lang="en" sz="900" dirty="0">
                <a:solidFill>
                  <a:schemeClr val="dk1"/>
                </a:solidFill>
              </a:rPr>
              <a:t>Transformation digitale du reseau international de Franchise Euronews</a:t>
            </a:r>
            <a:endParaRPr sz="900" dirty="0"/>
          </a:p>
        </p:txBody>
      </p:sp>
      <p:sp>
        <p:nvSpPr>
          <p:cNvPr id="158" name="Google Shape;158;p25"/>
          <p:cNvSpPr txBox="1"/>
          <p:nvPr/>
        </p:nvSpPr>
        <p:spPr>
          <a:xfrm>
            <a:off x="6015064" y="3340043"/>
            <a:ext cx="3002658" cy="484800"/>
          </a:xfrm>
          <a:prstGeom prst="rect">
            <a:avLst/>
          </a:prstGeom>
          <a:noFill/>
          <a:ln>
            <a:noFill/>
          </a:ln>
        </p:spPr>
        <p:txBody>
          <a:bodyPr spcFirstLastPara="1" wrap="square" lIns="68575" tIns="34275" rIns="68575" bIns="34275" anchor="t" anchorCtr="0">
            <a:spAutoFit/>
          </a:bodyPr>
          <a:lstStyle/>
          <a:p>
            <a:pPr marL="0" lvl="0" indent="0" algn="just" rtl="0">
              <a:spcBef>
                <a:spcPts val="0"/>
              </a:spcBef>
              <a:spcAft>
                <a:spcPts val="0"/>
              </a:spcAft>
              <a:buClr>
                <a:schemeClr val="dk1"/>
              </a:buClr>
              <a:buFont typeface="Arial"/>
              <a:buNone/>
            </a:pPr>
            <a:r>
              <a:rPr lang="en" sz="900" dirty="0">
                <a:solidFill>
                  <a:srgbClr val="FF5733"/>
                </a:solidFill>
              </a:rPr>
              <a:t>Microsoft Pekin </a:t>
            </a:r>
            <a:r>
              <a:rPr lang="en" sz="900" b="1" dirty="0">
                <a:solidFill>
                  <a:schemeClr val="dk1"/>
                </a:solidFill>
              </a:rPr>
              <a:t>– Data scientist (2 ans)</a:t>
            </a:r>
            <a:endParaRPr sz="900" dirty="0">
              <a:solidFill>
                <a:schemeClr val="dk1"/>
              </a:solidFill>
            </a:endParaRPr>
          </a:p>
          <a:p>
            <a:pPr marL="0" lvl="0" indent="0" algn="l" rtl="0">
              <a:spcBef>
                <a:spcPts val="0"/>
              </a:spcBef>
              <a:spcAft>
                <a:spcPts val="0"/>
              </a:spcAft>
              <a:buNone/>
            </a:pPr>
            <a:r>
              <a:rPr lang="en" sz="900" dirty="0">
                <a:solidFill>
                  <a:schemeClr val="dk1"/>
                </a:solidFill>
                <a:highlight>
                  <a:srgbClr val="FFFFFF"/>
                </a:highlight>
              </a:rPr>
              <a:t>Déploiement de chatbots utilisant des LLMs et des RAG pour répondre à différents besoins métiers</a:t>
            </a:r>
            <a:endParaRPr sz="900" dirty="0">
              <a:solidFill>
                <a:srgbClr val="FF5733"/>
              </a:solidFill>
            </a:endParaRPr>
          </a:p>
        </p:txBody>
      </p:sp>
      <p:sp>
        <p:nvSpPr>
          <p:cNvPr id="161" name="Google Shape;161;p25"/>
          <p:cNvSpPr txBox="1"/>
          <p:nvPr/>
        </p:nvSpPr>
        <p:spPr>
          <a:xfrm>
            <a:off x="6789125" y="4179056"/>
            <a:ext cx="1172436" cy="300052"/>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500" dirty="0">
                <a:solidFill>
                  <a:schemeClr val="dk1"/>
                </a:solidFill>
                <a:latin typeface="Aharoni"/>
                <a:ea typeface="Aharoni"/>
                <a:cs typeface="Aharoni"/>
                <a:sym typeface="Aharoni"/>
              </a:rPr>
              <a:t>Formatrice</a:t>
            </a:r>
            <a:endParaRPr sz="1100" dirty="0"/>
          </a:p>
        </p:txBody>
      </p:sp>
      <p:sp>
        <p:nvSpPr>
          <p:cNvPr id="162" name="Google Shape;162;p25"/>
          <p:cNvSpPr txBox="1"/>
          <p:nvPr/>
        </p:nvSpPr>
        <p:spPr>
          <a:xfrm>
            <a:off x="6067678" y="4479108"/>
            <a:ext cx="2092216" cy="192330"/>
          </a:xfrm>
          <a:prstGeom prst="rect">
            <a:avLst/>
          </a:prstGeom>
          <a:noFill/>
          <a:ln>
            <a:noFill/>
          </a:ln>
        </p:spPr>
        <p:txBody>
          <a:bodyPr spcFirstLastPara="1" wrap="square" lIns="68575" tIns="34275" rIns="68575" bIns="34275" anchor="t" anchorCtr="0">
            <a:spAutoFit/>
          </a:bodyPr>
          <a:lstStyle/>
          <a:p>
            <a:pPr marL="215900" marR="0" lvl="0" indent="-203200" algn="just" rtl="0">
              <a:spcBef>
                <a:spcPts val="0"/>
              </a:spcBef>
              <a:spcAft>
                <a:spcPts val="0"/>
              </a:spcAft>
              <a:buClr>
                <a:schemeClr val="dk1"/>
              </a:buClr>
              <a:buSzPts val="800"/>
              <a:buFont typeface="Arial"/>
              <a:buChar char="•"/>
            </a:pPr>
            <a:r>
              <a:rPr lang="en" sz="800" b="1" i="0" dirty="0">
                <a:solidFill>
                  <a:schemeClr val="dk1"/>
                </a:solidFill>
                <a:latin typeface="Arial"/>
                <a:ea typeface="Arial"/>
                <a:cs typeface="Arial"/>
                <a:sym typeface="Arial"/>
              </a:rPr>
              <a:t>Ecoles : Aivancity Paris</a:t>
            </a:r>
            <a:endParaRPr sz="800" dirty="0"/>
          </a:p>
        </p:txBody>
      </p:sp>
      <p:sp>
        <p:nvSpPr>
          <p:cNvPr id="163" name="Google Shape;163;p25"/>
          <p:cNvSpPr txBox="1"/>
          <p:nvPr/>
        </p:nvSpPr>
        <p:spPr>
          <a:xfrm>
            <a:off x="6067678" y="4749736"/>
            <a:ext cx="2915831" cy="315441"/>
          </a:xfrm>
          <a:prstGeom prst="rect">
            <a:avLst/>
          </a:prstGeom>
          <a:noFill/>
          <a:ln>
            <a:noFill/>
          </a:ln>
        </p:spPr>
        <p:txBody>
          <a:bodyPr spcFirstLastPara="1" wrap="square" lIns="68575" tIns="34275" rIns="68575" bIns="34275" anchor="t" anchorCtr="0">
            <a:spAutoFit/>
          </a:bodyPr>
          <a:lstStyle/>
          <a:p>
            <a:pPr marL="215900" marR="0" lvl="0" indent="-203200" algn="just" rtl="0">
              <a:spcBef>
                <a:spcPts val="0"/>
              </a:spcBef>
              <a:spcAft>
                <a:spcPts val="0"/>
              </a:spcAft>
              <a:buClr>
                <a:schemeClr val="dk1"/>
              </a:buClr>
              <a:buSzPts val="800"/>
              <a:buFont typeface="Arial"/>
              <a:buChar char="•"/>
            </a:pPr>
            <a:r>
              <a:rPr lang="en" sz="800" b="1" dirty="0">
                <a:solidFill>
                  <a:schemeClr val="dk1"/>
                </a:solidFill>
                <a:latin typeface="Arial"/>
                <a:ea typeface="Arial"/>
                <a:cs typeface="Arial"/>
                <a:sym typeface="Arial"/>
              </a:rPr>
              <a:t>LinkedIn : </a:t>
            </a:r>
            <a:r>
              <a:rPr lang="en" sz="800" dirty="0">
                <a:solidFill>
                  <a:schemeClr val="dk1"/>
                </a:solidFill>
                <a:latin typeface="Arial"/>
                <a:ea typeface="Arial"/>
                <a:cs typeface="Arial"/>
                <a:sym typeface="Arial"/>
              </a:rPr>
              <a:t>Ecriture d’articles pédagogiques (1 700 abonnés)</a:t>
            </a:r>
            <a:endParaRPr sz="800" dirty="0">
              <a:solidFill>
                <a:schemeClr val="dk1"/>
              </a:solidFill>
              <a:latin typeface="Arial"/>
              <a:ea typeface="Arial"/>
              <a:cs typeface="Arial"/>
              <a:sym typeface="Arial"/>
            </a:endParaRPr>
          </a:p>
        </p:txBody>
      </p:sp>
      <p:sp>
        <p:nvSpPr>
          <p:cNvPr id="164" name="Google Shape;164;p25"/>
          <p:cNvSpPr txBox="1"/>
          <p:nvPr/>
        </p:nvSpPr>
        <p:spPr>
          <a:xfrm>
            <a:off x="461678" y="1681683"/>
            <a:ext cx="957600" cy="2079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1" dirty="0">
                <a:solidFill>
                  <a:schemeClr val="lt1"/>
                </a:solidFill>
                <a:latin typeface="Calibri"/>
                <a:ea typeface="Calibri"/>
                <a:cs typeface="Calibri"/>
                <a:sym typeface="Calibri"/>
              </a:rPr>
              <a:t>06 37 12 28 06</a:t>
            </a:r>
            <a:endParaRPr sz="1100" dirty="0"/>
          </a:p>
        </p:txBody>
      </p:sp>
      <p:sp>
        <p:nvSpPr>
          <p:cNvPr id="165" name="Google Shape;165;p25"/>
          <p:cNvSpPr txBox="1"/>
          <p:nvPr/>
        </p:nvSpPr>
        <p:spPr>
          <a:xfrm>
            <a:off x="229735" y="1834977"/>
            <a:ext cx="1335900" cy="20771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1" dirty="0">
                <a:solidFill>
                  <a:schemeClr val="lt1"/>
                </a:solidFill>
                <a:latin typeface="Calibri"/>
                <a:ea typeface="Calibri"/>
                <a:cs typeface="Calibri"/>
                <a:sym typeface="Calibri"/>
              </a:rPr>
              <a:t>yvonnedalle@gmail.com</a:t>
            </a:r>
            <a:endParaRPr sz="900" b="1" dirty="0">
              <a:solidFill>
                <a:schemeClr val="lt1"/>
              </a:solidFill>
              <a:latin typeface="Arial"/>
              <a:ea typeface="Arial"/>
              <a:cs typeface="Arial"/>
              <a:sym typeface="Arial"/>
            </a:endParaRPr>
          </a:p>
        </p:txBody>
      </p:sp>
      <p:sp>
        <p:nvSpPr>
          <p:cNvPr id="3" name="Google Shape;144;p25">
            <a:extLst>
              <a:ext uri="{FF2B5EF4-FFF2-40B4-BE49-F238E27FC236}">
                <a16:creationId xmlns:a16="http://schemas.microsoft.com/office/drawing/2014/main" id="{7B0420D1-B231-D596-BB52-10603DC7D758}"/>
              </a:ext>
            </a:extLst>
          </p:cNvPr>
          <p:cNvSpPr txBox="1"/>
          <p:nvPr/>
        </p:nvSpPr>
        <p:spPr>
          <a:xfrm>
            <a:off x="33216" y="2211941"/>
            <a:ext cx="2191274" cy="346218"/>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fr-FR" sz="900" dirty="0">
                <a:solidFill>
                  <a:schemeClr val="lt1"/>
                </a:solidFill>
                <a:latin typeface="Calibri"/>
                <a:ea typeface="Calibri"/>
                <a:cs typeface="Calibri"/>
                <a:sym typeface="Calibri"/>
              </a:rPr>
              <a:t>MBA international</a:t>
            </a:r>
            <a:endParaRPr sz="1100" dirty="0"/>
          </a:p>
          <a:p>
            <a:pPr marL="0" marR="0" lvl="0" indent="0" algn="l" rtl="0">
              <a:spcBef>
                <a:spcPts val="0"/>
              </a:spcBef>
              <a:spcAft>
                <a:spcPts val="0"/>
              </a:spcAft>
              <a:buNone/>
            </a:pPr>
            <a:r>
              <a:rPr lang="en" sz="900" dirty="0">
                <a:solidFill>
                  <a:schemeClr val="lt1"/>
                </a:solidFill>
                <a:latin typeface="Calibri"/>
                <a:ea typeface="Calibri"/>
                <a:cs typeface="Calibri"/>
                <a:sym typeface="Calibri"/>
              </a:rPr>
              <a:t>-</a:t>
            </a:r>
            <a:r>
              <a:rPr lang="en" sz="900" b="0" i="0" u="none" strike="noStrike" dirty="0">
                <a:solidFill>
                  <a:schemeClr val="lt1"/>
                </a:solidFill>
                <a:latin typeface="Calibri"/>
                <a:ea typeface="Calibri"/>
                <a:cs typeface="Calibri"/>
                <a:sym typeface="Calibri"/>
              </a:rPr>
              <a:t> Ecole de Commerce </a:t>
            </a:r>
            <a:r>
              <a:rPr lang="en" sz="900" b="1" i="0" u="none" strike="noStrike" dirty="0">
                <a:solidFill>
                  <a:schemeClr val="lt1"/>
                </a:solidFill>
                <a:latin typeface="Calibri"/>
                <a:ea typeface="Calibri"/>
                <a:cs typeface="Calibri"/>
                <a:sym typeface="Calibri"/>
              </a:rPr>
              <a:t>EMLYON</a:t>
            </a:r>
            <a:endParaRPr sz="900" b="1" dirty="0">
              <a:solidFill>
                <a:schemeClr val="lt1"/>
              </a:solidFill>
              <a:latin typeface="Arial"/>
              <a:ea typeface="Arial"/>
              <a:cs typeface="Arial"/>
              <a:sym typeface="Arial"/>
            </a:endParaRPr>
          </a:p>
        </p:txBody>
      </p:sp>
      <p:sp>
        <p:nvSpPr>
          <p:cNvPr id="5" name="Google Shape;151;p25">
            <a:extLst>
              <a:ext uri="{FF2B5EF4-FFF2-40B4-BE49-F238E27FC236}">
                <a16:creationId xmlns:a16="http://schemas.microsoft.com/office/drawing/2014/main" id="{D20EBFBF-E43B-48E3-0F17-11A86E6CD1B7}"/>
              </a:ext>
            </a:extLst>
          </p:cNvPr>
          <p:cNvSpPr txBox="1"/>
          <p:nvPr/>
        </p:nvSpPr>
        <p:spPr>
          <a:xfrm>
            <a:off x="1180330" y="4864266"/>
            <a:ext cx="649268" cy="20771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900" b="1" dirty="0">
                <a:solidFill>
                  <a:schemeClr val="lt1"/>
                </a:solidFill>
                <a:latin typeface="Calibri"/>
                <a:ea typeface="Calibri"/>
                <a:cs typeface="Calibri"/>
                <a:sym typeface="Calibri"/>
              </a:rPr>
              <a:t>Mandarin</a:t>
            </a:r>
            <a:endParaRPr sz="900" b="1" dirty="0">
              <a:solidFill>
                <a:schemeClr val="lt1"/>
              </a:solidFill>
              <a:latin typeface="Arial"/>
              <a:ea typeface="Arial"/>
              <a:cs typeface="Arial"/>
              <a:sym typeface="Arial"/>
            </a:endParaRPr>
          </a:p>
        </p:txBody>
      </p:sp>
      <p:pic>
        <p:nvPicPr>
          <p:cNvPr id="8" name="Image 7">
            <a:extLst>
              <a:ext uri="{FF2B5EF4-FFF2-40B4-BE49-F238E27FC236}">
                <a16:creationId xmlns:a16="http://schemas.microsoft.com/office/drawing/2014/main" id="{4D4134EF-E864-4805-5EF9-B51FC33D09DD}"/>
              </a:ext>
            </a:extLst>
          </p:cNvPr>
          <p:cNvPicPr>
            <a:picLocks noChangeAspect="1"/>
          </p:cNvPicPr>
          <p:nvPr/>
        </p:nvPicPr>
        <p:blipFill>
          <a:blip r:embed="rId6"/>
          <a:stretch>
            <a:fillRect/>
          </a:stretch>
        </p:blipFill>
        <p:spPr>
          <a:xfrm>
            <a:off x="210337" y="46693"/>
            <a:ext cx="1630566" cy="1630566"/>
          </a:xfrm>
          <a:prstGeom prst="ellipse">
            <a:avLst/>
          </a:prstGeom>
          <a:ln w="63500" cap="rnd">
            <a:noFill/>
          </a:ln>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6"/>
          <p:cNvSpPr/>
          <p:nvPr/>
        </p:nvSpPr>
        <p:spPr>
          <a:xfrm>
            <a:off x="0" y="4964906"/>
            <a:ext cx="9144000" cy="178500"/>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71" name="Google Shape;171;p26"/>
          <p:cNvPicPr preferRelativeResize="0"/>
          <p:nvPr/>
        </p:nvPicPr>
        <p:blipFill rotWithShape="1">
          <a:blip r:embed="rId3">
            <a:alphaModFix/>
          </a:blip>
          <a:srcRect l="12204" r="26409" b="13510"/>
          <a:stretch/>
        </p:blipFill>
        <p:spPr>
          <a:xfrm>
            <a:off x="85724" y="335013"/>
            <a:ext cx="4429128" cy="636290"/>
          </a:xfrm>
          <a:prstGeom prst="rect">
            <a:avLst/>
          </a:prstGeom>
          <a:noFill/>
          <a:ln w="38100" cap="flat" cmpd="sng">
            <a:solidFill>
              <a:srgbClr val="FF5733"/>
            </a:solidFill>
            <a:prstDash val="solid"/>
            <a:round/>
            <a:headEnd type="none" w="sm" len="sm"/>
            <a:tailEnd type="none" w="sm" len="sm"/>
          </a:ln>
        </p:spPr>
      </p:pic>
      <p:cxnSp>
        <p:nvCxnSpPr>
          <p:cNvPr id="172" name="Google Shape;172;p26"/>
          <p:cNvCxnSpPr/>
          <p:nvPr/>
        </p:nvCxnSpPr>
        <p:spPr>
          <a:xfrm>
            <a:off x="4629150" y="1100138"/>
            <a:ext cx="0" cy="3693300"/>
          </a:xfrm>
          <a:prstGeom prst="straightConnector1">
            <a:avLst/>
          </a:prstGeom>
          <a:noFill/>
          <a:ln w="57150" cap="flat" cmpd="sng">
            <a:solidFill>
              <a:srgbClr val="FF5733"/>
            </a:solidFill>
            <a:prstDash val="solid"/>
            <a:miter lim="800000"/>
            <a:headEnd type="none" w="sm" len="sm"/>
            <a:tailEnd type="none" w="sm" len="sm"/>
          </a:ln>
        </p:spPr>
      </p:cxnSp>
      <p:pic>
        <p:nvPicPr>
          <p:cNvPr id="173" name="Google Shape;173;p26"/>
          <p:cNvPicPr preferRelativeResize="0"/>
          <p:nvPr/>
        </p:nvPicPr>
        <p:blipFill rotWithShape="1">
          <a:blip r:embed="rId3">
            <a:alphaModFix/>
          </a:blip>
          <a:srcRect l="12204" r="26409" b="13510"/>
          <a:stretch/>
        </p:blipFill>
        <p:spPr>
          <a:xfrm>
            <a:off x="4722019" y="335013"/>
            <a:ext cx="4336256" cy="636290"/>
          </a:xfrm>
          <a:prstGeom prst="rect">
            <a:avLst/>
          </a:prstGeom>
          <a:noFill/>
          <a:ln w="38100" cap="flat" cmpd="sng">
            <a:solidFill>
              <a:srgbClr val="FF5733"/>
            </a:solidFill>
            <a:prstDash val="solid"/>
            <a:round/>
            <a:headEnd type="none" w="sm" len="sm"/>
            <a:tailEnd type="none" w="sm" len="sm"/>
          </a:ln>
        </p:spPr>
      </p:pic>
      <p:sp>
        <p:nvSpPr>
          <p:cNvPr id="174" name="Google Shape;174;p26"/>
          <p:cNvSpPr txBox="1"/>
          <p:nvPr/>
        </p:nvSpPr>
        <p:spPr>
          <a:xfrm>
            <a:off x="78191" y="1365844"/>
            <a:ext cx="4350900" cy="77710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just" rtl="0">
              <a:spcBef>
                <a:spcPts val="0"/>
              </a:spcBef>
              <a:spcAft>
                <a:spcPts val="0"/>
              </a:spcAft>
              <a:buNone/>
            </a:pPr>
            <a:r>
              <a:rPr lang="fr-FR" sz="900" b="0" i="0" u="none" strike="noStrike" dirty="0">
                <a:solidFill>
                  <a:schemeClr val="dk1"/>
                </a:solidFill>
                <a:latin typeface="Arial"/>
                <a:ea typeface="Arial"/>
                <a:cs typeface="Arial"/>
                <a:sym typeface="Arial"/>
              </a:rPr>
              <a:t>Des informations d’identité, notamment le nom de naissance, sont manquantes ou suspectes dans les données clients. Les pièces de la GED peuvent contribuer à leur vérification. Les corrections doivent être traçables et maîtrisées dans un environnement sensible.</a:t>
            </a:r>
            <a:endParaRPr lang="fr-FR" sz="900" dirty="0">
              <a:solidFill>
                <a:schemeClr val="dk1"/>
              </a:solidFill>
              <a:latin typeface="Arial"/>
              <a:ea typeface="Arial"/>
              <a:cs typeface="Arial"/>
              <a:sym typeface="Arial"/>
            </a:endParaRPr>
          </a:p>
        </p:txBody>
      </p:sp>
      <p:sp>
        <p:nvSpPr>
          <p:cNvPr id="175" name="Google Shape;175;p26"/>
          <p:cNvSpPr txBox="1"/>
          <p:nvPr/>
        </p:nvSpPr>
        <p:spPr>
          <a:xfrm>
            <a:off x="85724" y="2178467"/>
            <a:ext cx="4486200" cy="2038989"/>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Missions :</a:t>
            </a:r>
            <a:endParaRPr sz="1000" dirty="0"/>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Cadrage du périmètre et identification du flux NSI vers GED puis extraction.</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Définition d’un MVP centré sur l’extraction documentaire, sans réinjection directe dans les systèmes.</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rPr>
              <a:t>P</a:t>
            </a:r>
            <a:r>
              <a:rPr lang="fr-FR" sz="900" dirty="0">
                <a:solidFill>
                  <a:schemeClr val="dk1"/>
                </a:solidFill>
                <a:latin typeface="Arial"/>
                <a:ea typeface="Arial"/>
                <a:cs typeface="Arial"/>
                <a:sym typeface="Arial"/>
              </a:rPr>
              <a:t>réparation des accès ; suivi des besoins de VM, notebook et clés API Helia LLM.</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Étude des options de </a:t>
            </a:r>
            <a:r>
              <a:rPr lang="fr-FR" sz="900" dirty="0" err="1">
                <a:solidFill>
                  <a:schemeClr val="dk1"/>
                </a:solidFill>
                <a:latin typeface="Arial"/>
                <a:ea typeface="Arial"/>
                <a:cs typeface="Arial"/>
                <a:sym typeface="Arial"/>
              </a:rPr>
              <a:t>pseudonymisation</a:t>
            </a:r>
            <a:r>
              <a:rPr lang="fr-FR" sz="900" dirty="0">
                <a:solidFill>
                  <a:schemeClr val="dk1"/>
                </a:solidFill>
                <a:latin typeface="Arial"/>
                <a:ea typeface="Arial"/>
                <a:cs typeface="Arial"/>
                <a:sym typeface="Arial"/>
              </a:rPr>
              <a:t>, anonymisation et données synthétiques, avec coordination des échanges DPO et équipes techniques.</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Concevoir les Agents IA qui détecte les anomalies, retrouve les pièces utiles, extrais les informations et propose une correction avec un niveau de confiance et une validation humaine.</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Diriger l'intégration </a:t>
            </a:r>
            <a:r>
              <a:rPr lang="fr-FR" sz="900" dirty="0" err="1">
                <a:solidFill>
                  <a:schemeClr val="dk1"/>
                </a:solidFill>
                <a:latin typeface="Arial"/>
                <a:ea typeface="Arial"/>
                <a:cs typeface="Arial"/>
                <a:sym typeface="Arial"/>
              </a:rPr>
              <a:t>MLOps</a:t>
            </a:r>
            <a:r>
              <a:rPr lang="fr-FR" sz="900" dirty="0">
                <a:solidFill>
                  <a:schemeClr val="dk1"/>
                </a:solidFill>
                <a:latin typeface="Arial"/>
                <a:ea typeface="Arial"/>
                <a:cs typeface="Arial"/>
                <a:sym typeface="Arial"/>
              </a:rPr>
              <a:t> et DevOps, rationaliser le déploiement d'Al et le développement pratique.</a:t>
            </a:r>
          </a:p>
          <a:p>
            <a:pPr marL="215900" marR="0" lvl="0" indent="-215900" algn="l" rtl="0">
              <a:spcBef>
                <a:spcPts val="0"/>
              </a:spcBef>
              <a:spcAft>
                <a:spcPts val="0"/>
              </a:spcAft>
              <a:buClr>
                <a:schemeClr val="dk1"/>
              </a:buClr>
              <a:buSzPts val="1000"/>
              <a:buFont typeface="Arial"/>
              <a:buChar char="•"/>
            </a:pPr>
            <a:endParaRPr sz="1000" dirty="0"/>
          </a:p>
        </p:txBody>
      </p:sp>
      <p:sp>
        <p:nvSpPr>
          <p:cNvPr id="176" name="Google Shape;176;p26"/>
          <p:cNvSpPr txBox="1"/>
          <p:nvPr/>
        </p:nvSpPr>
        <p:spPr>
          <a:xfrm>
            <a:off x="80881" y="4454892"/>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latin typeface="Arial"/>
                <a:ea typeface="Arial"/>
                <a:cs typeface="Arial"/>
                <a:sym typeface="Arial"/>
              </a:rPr>
              <a:t>Google Cloud </a:t>
            </a:r>
            <a:r>
              <a:rPr lang="en" sz="900" dirty="0">
                <a:solidFill>
                  <a:schemeClr val="dk1"/>
                </a:solidFill>
              </a:rPr>
              <a:t>Platform</a:t>
            </a:r>
            <a:r>
              <a:rPr lang="en" sz="900" dirty="0">
                <a:solidFill>
                  <a:schemeClr val="dk1"/>
                </a:solidFill>
                <a:latin typeface="Arial"/>
                <a:ea typeface="Arial"/>
                <a:cs typeface="Arial"/>
                <a:sym typeface="Arial"/>
              </a:rPr>
              <a:t>, Tesseract, Python, SQL, API et webservices (NSI et GED), Github, Helia LLM, Docker, M</a:t>
            </a:r>
            <a:r>
              <a:rPr lang="fr-FR" sz="900" dirty="0">
                <a:solidFill>
                  <a:schemeClr val="dk1"/>
                </a:solidFill>
                <a:latin typeface="Arial"/>
                <a:ea typeface="Arial"/>
                <a:cs typeface="Arial"/>
                <a:sym typeface="Arial"/>
              </a:rPr>
              <a:t>l</a:t>
            </a:r>
            <a:r>
              <a:rPr lang="en" sz="900" dirty="0">
                <a:solidFill>
                  <a:schemeClr val="dk1"/>
                </a:solidFill>
                <a:latin typeface="Arial"/>
                <a:ea typeface="Arial"/>
                <a:cs typeface="Arial"/>
                <a:sym typeface="Arial"/>
              </a:rPr>
              <a:t>flow, Airflow, FastAPI</a:t>
            </a:r>
            <a:endParaRPr sz="900" dirty="0">
              <a:solidFill>
                <a:schemeClr val="dk1"/>
              </a:solidFill>
              <a:latin typeface="Arial"/>
              <a:ea typeface="Arial"/>
              <a:cs typeface="Arial"/>
              <a:sym typeface="Arial"/>
            </a:endParaRPr>
          </a:p>
        </p:txBody>
      </p:sp>
      <p:sp>
        <p:nvSpPr>
          <p:cNvPr id="177" name="Google Shape;177;p26"/>
          <p:cNvSpPr txBox="1"/>
          <p:nvPr/>
        </p:nvSpPr>
        <p:spPr>
          <a:xfrm>
            <a:off x="1360577" y="347026"/>
            <a:ext cx="2421206" cy="500107"/>
          </a:xfrm>
          <a:prstGeom prst="rect">
            <a:avLst/>
          </a:prstGeom>
          <a:noFill/>
          <a:ln>
            <a:noFill/>
          </a:ln>
        </p:spPr>
        <p:txBody>
          <a:bodyPr spcFirstLastPara="1" wrap="square" lIns="68575" tIns="34275" rIns="68575" bIns="34275" anchor="t" anchorCtr="0">
            <a:spAutoFit/>
          </a:bodyPr>
          <a:lstStyle/>
          <a:p>
            <a:pPr marL="0" marR="0" lvl="0" indent="0" algn="ctr" rtl="0">
              <a:spcBef>
                <a:spcPts val="0"/>
              </a:spcBef>
              <a:spcAft>
                <a:spcPts val="0"/>
              </a:spcAft>
              <a:buNone/>
            </a:pPr>
            <a:r>
              <a:rPr lang="en" b="1" dirty="0">
                <a:solidFill>
                  <a:srgbClr val="FF5733"/>
                </a:solidFill>
              </a:rPr>
              <a:t>Groupe VYV – Harmonie Mutuelle/ Mutex/UMR</a:t>
            </a:r>
            <a:endParaRPr sz="1100" dirty="0"/>
          </a:p>
        </p:txBody>
      </p:sp>
      <p:sp>
        <p:nvSpPr>
          <p:cNvPr id="178" name="Google Shape;178;p26"/>
          <p:cNvSpPr txBox="1"/>
          <p:nvPr/>
        </p:nvSpPr>
        <p:spPr>
          <a:xfrm>
            <a:off x="1913374" y="742385"/>
            <a:ext cx="16443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dirty="0">
                <a:solidFill>
                  <a:schemeClr val="dk1"/>
                </a:solidFill>
                <a:latin typeface="Arial"/>
                <a:ea typeface="Arial"/>
                <a:cs typeface="Arial"/>
                <a:sym typeface="Arial"/>
              </a:rPr>
              <a:t>Data scientist</a:t>
            </a:r>
            <a:endParaRPr sz="1100" b="1" dirty="0">
              <a:solidFill>
                <a:schemeClr val="dk1"/>
              </a:solidFill>
              <a:latin typeface="Arial"/>
              <a:ea typeface="Arial"/>
              <a:cs typeface="Arial"/>
              <a:sym typeface="Arial"/>
            </a:endParaRPr>
          </a:p>
        </p:txBody>
      </p:sp>
      <p:sp>
        <p:nvSpPr>
          <p:cNvPr id="180" name="Google Shape;180;p26"/>
          <p:cNvSpPr txBox="1"/>
          <p:nvPr/>
        </p:nvSpPr>
        <p:spPr>
          <a:xfrm>
            <a:off x="6016151" y="361003"/>
            <a:ext cx="1849781" cy="669384"/>
          </a:xfrm>
          <a:prstGeom prst="rect">
            <a:avLst/>
          </a:prstGeom>
          <a:noFill/>
          <a:ln>
            <a:noFill/>
          </a:ln>
        </p:spPr>
        <p:txBody>
          <a:bodyPr spcFirstLastPara="1" wrap="square" lIns="68575" tIns="34275" rIns="68575" bIns="34275" anchor="t" anchorCtr="0">
            <a:spAutoFit/>
          </a:bodyPr>
          <a:lstStyle/>
          <a:p>
            <a:pPr algn="ctr">
              <a:buClr>
                <a:schemeClr val="dk1"/>
              </a:buClr>
            </a:pPr>
            <a:r>
              <a:rPr lang="fr-FR" b="1" dirty="0">
                <a:solidFill>
                  <a:srgbClr val="FF5733"/>
                </a:solidFill>
              </a:rPr>
              <a:t>Groupe VYV - MNT</a:t>
            </a:r>
            <a:endParaRPr lang="fr-FR" sz="1100" dirty="0"/>
          </a:p>
          <a:p>
            <a:pPr marL="0" lvl="0" indent="0" algn="ctr" rtl="0">
              <a:spcBef>
                <a:spcPts val="0"/>
              </a:spcBef>
              <a:spcAft>
                <a:spcPts val="0"/>
              </a:spcAft>
              <a:buClr>
                <a:schemeClr val="dk1"/>
              </a:buClr>
              <a:buFont typeface="Arial"/>
              <a:buNone/>
            </a:pPr>
            <a:endParaRPr sz="1100" dirty="0">
              <a:solidFill>
                <a:schemeClr val="dk1"/>
              </a:solidFill>
            </a:endParaRPr>
          </a:p>
          <a:p>
            <a:pPr marL="0" marR="0" lvl="0" indent="0" algn="l" rtl="0">
              <a:spcBef>
                <a:spcPts val="0"/>
              </a:spcBef>
              <a:spcAft>
                <a:spcPts val="0"/>
              </a:spcAft>
              <a:buNone/>
            </a:pPr>
            <a:endParaRPr b="1" dirty="0">
              <a:solidFill>
                <a:srgbClr val="FF5733"/>
              </a:solidFill>
            </a:endParaRPr>
          </a:p>
        </p:txBody>
      </p:sp>
      <p:sp>
        <p:nvSpPr>
          <p:cNvPr id="181" name="Google Shape;181;p26"/>
          <p:cNvSpPr txBox="1"/>
          <p:nvPr/>
        </p:nvSpPr>
        <p:spPr>
          <a:xfrm>
            <a:off x="6406830" y="555575"/>
            <a:ext cx="14871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dirty="0">
                <a:solidFill>
                  <a:schemeClr val="dk1"/>
                </a:solidFill>
                <a:latin typeface="Arial"/>
                <a:ea typeface="Arial"/>
                <a:cs typeface="Arial"/>
                <a:sym typeface="Arial"/>
              </a:rPr>
              <a:t>Data scientist</a:t>
            </a:r>
            <a:endParaRPr sz="1100" b="1" dirty="0">
              <a:solidFill>
                <a:schemeClr val="dk1"/>
              </a:solidFill>
              <a:latin typeface="Arial"/>
              <a:ea typeface="Arial"/>
              <a:cs typeface="Arial"/>
              <a:sym typeface="Arial"/>
            </a:endParaRPr>
          </a:p>
        </p:txBody>
      </p:sp>
      <p:sp>
        <p:nvSpPr>
          <p:cNvPr id="183" name="Google Shape;183;p26"/>
          <p:cNvSpPr txBox="1"/>
          <p:nvPr/>
        </p:nvSpPr>
        <p:spPr>
          <a:xfrm>
            <a:off x="85723" y="1044404"/>
            <a:ext cx="42153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1 :</a:t>
            </a:r>
            <a:endParaRPr sz="1000" dirty="0"/>
          </a:p>
          <a:p>
            <a:pPr marL="0" marR="0" lvl="0" indent="0" algn="l" rtl="0">
              <a:spcBef>
                <a:spcPts val="0"/>
              </a:spcBef>
              <a:spcAft>
                <a:spcPts val="0"/>
              </a:spcAft>
              <a:buNone/>
            </a:pPr>
            <a:r>
              <a:rPr lang="en" sz="900" dirty="0">
                <a:solidFill>
                  <a:schemeClr val="dk1"/>
                </a:solidFill>
              </a:rPr>
              <a:t>Qualité des données par Agent IA</a:t>
            </a:r>
            <a:endParaRPr sz="900" dirty="0"/>
          </a:p>
        </p:txBody>
      </p:sp>
      <p:sp>
        <p:nvSpPr>
          <p:cNvPr id="184" name="Google Shape;184;p26"/>
          <p:cNvSpPr txBox="1"/>
          <p:nvPr/>
        </p:nvSpPr>
        <p:spPr>
          <a:xfrm>
            <a:off x="4750500" y="1623134"/>
            <a:ext cx="4393500" cy="91560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l" rtl="0">
              <a:spcBef>
                <a:spcPts val="0"/>
              </a:spcBef>
              <a:spcAft>
                <a:spcPts val="0"/>
              </a:spcAft>
              <a:buNone/>
            </a:pPr>
            <a:r>
              <a:rPr lang="fr-FR" sz="900" b="0" i="0" u="none" strike="noStrike" dirty="0">
                <a:solidFill>
                  <a:schemeClr val="dk1"/>
                </a:solidFill>
                <a:latin typeface="Arial"/>
                <a:ea typeface="Arial"/>
                <a:cs typeface="Arial"/>
                <a:sym typeface="Arial"/>
              </a:rPr>
              <a:t>Les retours aux sondages des adhérents concernant des offres différentes à mettre sur pied par exemple, des offres d’aide transgénérationnelles ou des activités d’accompagnement en ligne, permettent aux métiers de disposer d’une lecture structurée et éclairée. L’automatisation d’un rapport a été mis sur place pour que le </a:t>
            </a:r>
            <a:r>
              <a:rPr lang="fr-FR" sz="900" b="0" i="0" u="none" strike="noStrike" dirty="0" err="1">
                <a:solidFill>
                  <a:schemeClr val="dk1"/>
                </a:solidFill>
                <a:latin typeface="Arial"/>
                <a:ea typeface="Arial"/>
                <a:cs typeface="Arial"/>
                <a:sym typeface="Arial"/>
              </a:rPr>
              <a:t>product</a:t>
            </a:r>
            <a:r>
              <a:rPr lang="fr-FR" sz="900" b="0" i="0" u="none" strike="noStrike" dirty="0">
                <a:solidFill>
                  <a:schemeClr val="dk1"/>
                </a:solidFill>
                <a:latin typeface="Arial"/>
                <a:ea typeface="Arial"/>
                <a:cs typeface="Arial"/>
                <a:sym typeface="Arial"/>
              </a:rPr>
              <a:t> </a:t>
            </a:r>
            <a:r>
              <a:rPr lang="fr-FR" sz="900" b="0" i="0" u="none" strike="noStrike" dirty="0" err="1">
                <a:solidFill>
                  <a:schemeClr val="dk1"/>
                </a:solidFill>
                <a:latin typeface="Arial"/>
                <a:ea typeface="Arial"/>
                <a:cs typeface="Arial"/>
                <a:sym typeface="Arial"/>
              </a:rPr>
              <a:t>owner</a:t>
            </a:r>
            <a:r>
              <a:rPr lang="fr-FR" sz="900" b="0" i="0" u="none" strike="noStrike" dirty="0">
                <a:solidFill>
                  <a:schemeClr val="dk1"/>
                </a:solidFill>
                <a:latin typeface="Arial"/>
                <a:ea typeface="Arial"/>
                <a:cs typeface="Arial"/>
                <a:sym typeface="Arial"/>
              </a:rPr>
              <a:t> puissent l’utiliser de manière autonome.</a:t>
            </a:r>
            <a:endParaRPr sz="900" dirty="0">
              <a:solidFill>
                <a:schemeClr val="dk1"/>
              </a:solidFill>
              <a:latin typeface="Arial"/>
              <a:ea typeface="Arial"/>
              <a:cs typeface="Arial"/>
              <a:sym typeface="Arial"/>
            </a:endParaRPr>
          </a:p>
        </p:txBody>
      </p:sp>
      <p:sp>
        <p:nvSpPr>
          <p:cNvPr id="185" name="Google Shape;185;p26"/>
          <p:cNvSpPr txBox="1"/>
          <p:nvPr/>
        </p:nvSpPr>
        <p:spPr>
          <a:xfrm>
            <a:off x="4734619" y="2818768"/>
            <a:ext cx="4380900" cy="133110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Missions :</a:t>
            </a:r>
            <a:endParaRPr sz="1000" dirty="0"/>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Analyser des retours textuels et prise en compte de la diversité des offres concernées. </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Fournir une synthèse des retours et des possibilités de comparaison entre offres. </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Permettre au métier de renouveler l’analyse avec d’autres data, un contrôle de la qualité et des restitutions</a:t>
            </a:r>
          </a:p>
          <a:p>
            <a:pPr marL="215900" marR="0" lvl="0" indent="-215900" algn="l" rtl="0">
              <a:spcBef>
                <a:spcPts val="0"/>
              </a:spcBef>
              <a:spcAft>
                <a:spcPts val="0"/>
              </a:spcAft>
              <a:buClr>
                <a:schemeClr val="dk1"/>
              </a:buClr>
              <a:buSzPts val="1000"/>
              <a:buFont typeface="Arial"/>
              <a:buChar char="•"/>
            </a:pPr>
            <a:r>
              <a:rPr lang="fr-FR" sz="900" dirty="0">
                <a:solidFill>
                  <a:schemeClr val="dk1"/>
                </a:solidFill>
                <a:latin typeface="Arial"/>
                <a:ea typeface="Arial"/>
                <a:cs typeface="Arial"/>
                <a:sym typeface="Arial"/>
              </a:rPr>
              <a:t>Cadrage d’une phase 2 visant l’automatisation et l’autonomie du </a:t>
            </a:r>
            <a:r>
              <a:rPr lang="fr-FR" sz="900" dirty="0" err="1">
                <a:solidFill>
                  <a:schemeClr val="dk1"/>
                </a:solidFill>
                <a:latin typeface="Arial"/>
                <a:ea typeface="Arial"/>
                <a:cs typeface="Arial"/>
                <a:sym typeface="Arial"/>
              </a:rPr>
              <a:t>product</a:t>
            </a:r>
            <a:r>
              <a:rPr lang="fr-FR" sz="900" dirty="0">
                <a:solidFill>
                  <a:schemeClr val="dk1"/>
                </a:solidFill>
                <a:latin typeface="Arial"/>
                <a:ea typeface="Arial"/>
                <a:cs typeface="Arial"/>
                <a:sym typeface="Arial"/>
              </a:rPr>
              <a:t> </a:t>
            </a:r>
            <a:r>
              <a:rPr lang="fr-FR" sz="900" dirty="0" err="1">
                <a:solidFill>
                  <a:schemeClr val="dk1"/>
                </a:solidFill>
                <a:latin typeface="Arial"/>
                <a:ea typeface="Arial"/>
                <a:cs typeface="Arial"/>
                <a:sym typeface="Arial"/>
              </a:rPr>
              <a:t>owner</a:t>
            </a:r>
            <a:r>
              <a:rPr lang="fr-FR" sz="900" dirty="0">
                <a:solidFill>
                  <a:schemeClr val="dk1"/>
                </a:solidFill>
                <a:latin typeface="Arial"/>
                <a:ea typeface="Arial"/>
                <a:cs typeface="Arial"/>
                <a:sym typeface="Arial"/>
              </a:rPr>
              <a:t>.</a:t>
            </a:r>
          </a:p>
        </p:txBody>
      </p:sp>
      <p:sp>
        <p:nvSpPr>
          <p:cNvPr id="186" name="Google Shape;186;p26"/>
          <p:cNvSpPr txBox="1"/>
          <p:nvPr/>
        </p:nvSpPr>
        <p:spPr>
          <a:xfrm>
            <a:off x="4690888" y="4407519"/>
            <a:ext cx="45420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latin typeface="Arial"/>
                <a:ea typeface="Arial"/>
                <a:cs typeface="Arial"/>
                <a:sym typeface="Arial"/>
              </a:rPr>
              <a:t>Google Cloud </a:t>
            </a:r>
            <a:r>
              <a:rPr lang="en" sz="900" dirty="0">
                <a:solidFill>
                  <a:schemeClr val="dk1"/>
                </a:solidFill>
              </a:rPr>
              <a:t>Platform</a:t>
            </a:r>
            <a:r>
              <a:rPr lang="en" sz="900" dirty="0">
                <a:solidFill>
                  <a:schemeClr val="dk1"/>
                </a:solidFill>
                <a:latin typeface="Arial"/>
                <a:ea typeface="Arial"/>
                <a:cs typeface="Arial"/>
                <a:sym typeface="Arial"/>
              </a:rPr>
              <a:t>, Hélia LLM, Python, SQL, Sklearn, Streamlit, Github, Ansible</a:t>
            </a:r>
            <a:endParaRPr sz="900" dirty="0">
              <a:solidFill>
                <a:schemeClr val="dk1"/>
              </a:solidFill>
              <a:latin typeface="Arial"/>
              <a:ea typeface="Arial"/>
              <a:cs typeface="Arial"/>
              <a:sym typeface="Arial"/>
            </a:endParaRPr>
          </a:p>
        </p:txBody>
      </p:sp>
      <p:sp>
        <p:nvSpPr>
          <p:cNvPr id="187" name="Google Shape;187;p26"/>
          <p:cNvSpPr txBox="1"/>
          <p:nvPr/>
        </p:nvSpPr>
        <p:spPr>
          <a:xfrm>
            <a:off x="4750592" y="1096100"/>
            <a:ext cx="43935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2:</a:t>
            </a:r>
            <a:endParaRPr sz="1000" dirty="0"/>
          </a:p>
          <a:p>
            <a:pPr marL="0" marR="0" lvl="0" indent="0" algn="just" rtl="0">
              <a:spcBef>
                <a:spcPts val="0"/>
              </a:spcBef>
              <a:spcAft>
                <a:spcPts val="0"/>
              </a:spcAft>
              <a:buNone/>
            </a:pPr>
            <a:r>
              <a:rPr lang="en" sz="900" dirty="0">
                <a:solidFill>
                  <a:schemeClr val="dk1"/>
                </a:solidFill>
              </a:rPr>
              <a:t>Analyse des verbatims par l’Intelligence Artificielle</a:t>
            </a:r>
            <a:endParaRPr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27"/>
          <p:cNvSpPr/>
          <p:nvPr/>
        </p:nvSpPr>
        <p:spPr>
          <a:xfrm>
            <a:off x="0" y="4964906"/>
            <a:ext cx="9144000" cy="178594"/>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193" name="Google Shape;193;p27"/>
          <p:cNvPicPr preferRelativeResize="0"/>
          <p:nvPr/>
        </p:nvPicPr>
        <p:blipFill rotWithShape="1">
          <a:blip r:embed="rId3">
            <a:alphaModFix/>
          </a:blip>
          <a:srcRect l="12205" r="26407" b="13512"/>
          <a:stretch/>
        </p:blipFill>
        <p:spPr>
          <a:xfrm>
            <a:off x="85724" y="335013"/>
            <a:ext cx="4429128" cy="636290"/>
          </a:xfrm>
          <a:prstGeom prst="rect">
            <a:avLst/>
          </a:prstGeom>
          <a:noFill/>
          <a:ln w="38100" cap="flat" cmpd="sng">
            <a:solidFill>
              <a:srgbClr val="FF5733"/>
            </a:solidFill>
            <a:prstDash val="solid"/>
            <a:round/>
            <a:headEnd type="none" w="sm" len="sm"/>
            <a:tailEnd type="none" w="sm" len="sm"/>
          </a:ln>
        </p:spPr>
      </p:pic>
      <p:cxnSp>
        <p:nvCxnSpPr>
          <p:cNvPr id="194" name="Google Shape;194;p27"/>
          <p:cNvCxnSpPr/>
          <p:nvPr/>
        </p:nvCxnSpPr>
        <p:spPr>
          <a:xfrm>
            <a:off x="4629150" y="1100138"/>
            <a:ext cx="0" cy="3693319"/>
          </a:xfrm>
          <a:prstGeom prst="straightConnector1">
            <a:avLst/>
          </a:prstGeom>
          <a:noFill/>
          <a:ln w="57150" cap="flat" cmpd="sng">
            <a:solidFill>
              <a:srgbClr val="FF5733"/>
            </a:solidFill>
            <a:prstDash val="solid"/>
            <a:miter lim="800000"/>
            <a:headEnd type="none" w="sm" len="sm"/>
            <a:tailEnd type="none" w="sm" len="sm"/>
          </a:ln>
        </p:spPr>
      </p:cxnSp>
      <p:pic>
        <p:nvPicPr>
          <p:cNvPr id="195" name="Google Shape;195;p27"/>
          <p:cNvPicPr preferRelativeResize="0"/>
          <p:nvPr/>
        </p:nvPicPr>
        <p:blipFill rotWithShape="1">
          <a:blip r:embed="rId3">
            <a:alphaModFix/>
          </a:blip>
          <a:srcRect l="12205" r="26407" b="13512"/>
          <a:stretch/>
        </p:blipFill>
        <p:spPr>
          <a:xfrm>
            <a:off x="4722019" y="335013"/>
            <a:ext cx="4336257" cy="636290"/>
          </a:xfrm>
          <a:prstGeom prst="rect">
            <a:avLst/>
          </a:prstGeom>
          <a:noFill/>
          <a:ln w="38100" cap="flat" cmpd="sng">
            <a:solidFill>
              <a:srgbClr val="FF5733"/>
            </a:solidFill>
            <a:prstDash val="solid"/>
            <a:round/>
            <a:headEnd type="none" w="sm" len="sm"/>
            <a:tailEnd type="none" w="sm" len="sm"/>
          </a:ln>
        </p:spPr>
      </p:pic>
      <p:sp>
        <p:nvSpPr>
          <p:cNvPr id="196" name="Google Shape;196;p27"/>
          <p:cNvSpPr txBox="1"/>
          <p:nvPr/>
        </p:nvSpPr>
        <p:spPr>
          <a:xfrm>
            <a:off x="85723" y="1573678"/>
            <a:ext cx="4350900" cy="1054104"/>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just" rtl="0">
              <a:spcBef>
                <a:spcPts val="0"/>
              </a:spcBef>
              <a:spcAft>
                <a:spcPts val="0"/>
              </a:spcAft>
              <a:buNone/>
            </a:pPr>
            <a:r>
              <a:rPr lang="fr-FR" sz="900" b="0" i="0" u="none" strike="noStrike" dirty="0">
                <a:solidFill>
                  <a:schemeClr val="dk1"/>
                </a:solidFill>
                <a:latin typeface="Arial"/>
                <a:ea typeface="Arial"/>
                <a:cs typeface="Arial"/>
                <a:sym typeface="Arial"/>
              </a:rPr>
              <a:t>Un dispositif de prévention destiné aux agents territoriaux associe des interventions telles que les ateliers de kinésithérapie, les outils digitaux et l’éducation thérapeutique. L’évaluation porte sur l’évolution des symptômes et d’autres dimensions de santé et de travail. L’objectif est d’évaluer les évolutions sur deux ans, comparer les participants à une population témoin et étudier les différences selon l’exposition au dispositif et les profils.</a:t>
            </a:r>
            <a:endParaRPr sz="900" dirty="0">
              <a:solidFill>
                <a:schemeClr val="dk1"/>
              </a:solidFill>
              <a:latin typeface="Arial"/>
              <a:ea typeface="Arial"/>
              <a:cs typeface="Arial"/>
              <a:sym typeface="Arial"/>
            </a:endParaRPr>
          </a:p>
        </p:txBody>
      </p:sp>
      <p:sp>
        <p:nvSpPr>
          <p:cNvPr id="197" name="Google Shape;197;p27"/>
          <p:cNvSpPr txBox="1"/>
          <p:nvPr/>
        </p:nvSpPr>
        <p:spPr>
          <a:xfrm>
            <a:off x="85723" y="2742083"/>
            <a:ext cx="4486200" cy="133110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Missions :</a:t>
            </a:r>
            <a:endParaRPr sz="1000" dirty="0"/>
          </a:p>
          <a:p>
            <a:pPr marL="215900" marR="0" lvl="0" indent="-215900" algn="l" rtl="0">
              <a:spcBef>
                <a:spcPts val="0"/>
              </a:spcBef>
              <a:spcAft>
                <a:spcPts val="0"/>
              </a:spcAft>
              <a:buClr>
                <a:schemeClr val="dk1"/>
              </a:buClr>
              <a:buSzPts val="1000"/>
              <a:buFont typeface="Arial"/>
              <a:buChar char="•"/>
            </a:pPr>
            <a:r>
              <a:rPr lang="en" sz="900" dirty="0">
                <a:solidFill>
                  <a:schemeClr val="dk1"/>
                </a:solidFill>
                <a:latin typeface="Arial"/>
                <a:ea typeface="Arial"/>
                <a:cs typeface="Arial"/>
                <a:sym typeface="Arial"/>
              </a:rPr>
              <a:t>Analyser des données qualitatives et quantitatives</a:t>
            </a:r>
          </a:p>
          <a:p>
            <a:pPr marL="215900" marR="0" lvl="0" indent="-215900" algn="l" rtl="0">
              <a:spcBef>
                <a:spcPts val="0"/>
              </a:spcBef>
              <a:spcAft>
                <a:spcPts val="0"/>
              </a:spcAft>
              <a:buClr>
                <a:schemeClr val="dk1"/>
              </a:buClr>
              <a:buSzPts val="1000"/>
              <a:buFont typeface="Arial"/>
              <a:buChar char="•"/>
            </a:pPr>
            <a:r>
              <a:rPr lang="en" sz="900" dirty="0">
                <a:solidFill>
                  <a:schemeClr val="dk1"/>
                </a:solidFill>
                <a:latin typeface="Arial"/>
                <a:ea typeface="Arial"/>
                <a:cs typeface="Arial"/>
                <a:sym typeface="Arial"/>
              </a:rPr>
              <a:t>Elaboration d’un modèle pour estimer la performance du programme</a:t>
            </a:r>
          </a:p>
          <a:p>
            <a:pPr marL="215900" marR="0" lvl="0" indent="-215900" algn="l" rtl="0">
              <a:spcBef>
                <a:spcPts val="0"/>
              </a:spcBef>
              <a:spcAft>
                <a:spcPts val="0"/>
              </a:spcAft>
              <a:buClr>
                <a:schemeClr val="dk1"/>
              </a:buClr>
              <a:buSzPts val="1000"/>
              <a:buFont typeface="Arial"/>
              <a:buChar char="•"/>
            </a:pPr>
            <a:r>
              <a:rPr lang="fr-FR" sz="900" dirty="0"/>
              <a:t>Analyse des évolutions des variables tels que le score nordique et comparaison avec un groupe témoin d’adhérents.</a:t>
            </a:r>
          </a:p>
          <a:p>
            <a:pPr marL="215900" marR="0" lvl="0" indent="-215900" algn="l" rtl="0">
              <a:spcBef>
                <a:spcPts val="0"/>
              </a:spcBef>
              <a:spcAft>
                <a:spcPts val="0"/>
              </a:spcAft>
              <a:buClr>
                <a:schemeClr val="dk1"/>
              </a:buClr>
              <a:buSzPts val="1000"/>
              <a:buFont typeface="Arial"/>
              <a:buChar char="•"/>
            </a:pPr>
            <a:r>
              <a:rPr lang="fr-FR" sz="900" dirty="0"/>
              <a:t>Étude des différences selon les modalités d’accompagnement et du lien entre nombre d’ateliers participés et amélioration.</a:t>
            </a:r>
          </a:p>
          <a:p>
            <a:pPr marL="215900" marR="0" lvl="0" indent="-215900" algn="l" rtl="0">
              <a:spcBef>
                <a:spcPts val="0"/>
              </a:spcBef>
              <a:spcAft>
                <a:spcPts val="0"/>
              </a:spcAft>
              <a:buClr>
                <a:schemeClr val="dk1"/>
              </a:buClr>
              <a:buSzPts val="1000"/>
              <a:buFont typeface="Arial"/>
              <a:buChar char="•"/>
            </a:pPr>
            <a:r>
              <a:rPr lang="fr-FR" sz="900" dirty="0"/>
              <a:t>Segmentation en trois groupes et préparation de restitutions métier et scientifiques</a:t>
            </a:r>
            <a:endParaRPr sz="900" dirty="0"/>
          </a:p>
        </p:txBody>
      </p:sp>
      <p:sp>
        <p:nvSpPr>
          <p:cNvPr id="198" name="Google Shape;198;p27"/>
          <p:cNvSpPr txBox="1"/>
          <p:nvPr/>
        </p:nvSpPr>
        <p:spPr>
          <a:xfrm>
            <a:off x="29954" y="4328637"/>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latin typeface="Arial"/>
                <a:ea typeface="Arial"/>
                <a:cs typeface="Arial"/>
                <a:sym typeface="Arial"/>
              </a:rPr>
              <a:t>Tests statistiques, analyse longitudinales, Python, SQL, Github, clustering, Statsmodels</a:t>
            </a:r>
            <a:endParaRPr sz="900" dirty="0">
              <a:solidFill>
                <a:schemeClr val="dk1"/>
              </a:solidFill>
              <a:latin typeface="Arial"/>
              <a:ea typeface="Arial"/>
              <a:cs typeface="Arial"/>
              <a:sym typeface="Arial"/>
            </a:endParaRPr>
          </a:p>
        </p:txBody>
      </p:sp>
      <p:sp>
        <p:nvSpPr>
          <p:cNvPr id="199" name="Google Shape;199;p27"/>
          <p:cNvSpPr txBox="1"/>
          <p:nvPr/>
        </p:nvSpPr>
        <p:spPr>
          <a:xfrm>
            <a:off x="1378248" y="313045"/>
            <a:ext cx="1901149"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 - MNT</a:t>
            </a:r>
            <a:endParaRPr lang="fr-FR" sz="1100" dirty="0"/>
          </a:p>
          <a:p>
            <a:pPr marL="0" lvl="0" indent="0" algn="ctr" rtl="0">
              <a:spcBef>
                <a:spcPts val="0"/>
              </a:spcBef>
              <a:spcAft>
                <a:spcPts val="0"/>
              </a:spcAft>
              <a:buNone/>
            </a:pPr>
            <a:endParaRPr b="1" dirty="0">
              <a:solidFill>
                <a:srgbClr val="FF5733"/>
              </a:solidFill>
            </a:endParaRPr>
          </a:p>
        </p:txBody>
      </p:sp>
      <p:sp>
        <p:nvSpPr>
          <p:cNvPr id="200" name="Google Shape;200;p27"/>
          <p:cNvSpPr txBox="1"/>
          <p:nvPr/>
        </p:nvSpPr>
        <p:spPr>
          <a:xfrm>
            <a:off x="1805544" y="545400"/>
            <a:ext cx="16443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02" name="Google Shape;202;p27"/>
          <p:cNvSpPr txBox="1"/>
          <p:nvPr/>
        </p:nvSpPr>
        <p:spPr>
          <a:xfrm>
            <a:off x="6027269" y="345899"/>
            <a:ext cx="1886855" cy="284663"/>
          </a:xfrm>
          <a:prstGeom prst="rect">
            <a:avLst/>
          </a:prstGeom>
          <a:noFill/>
          <a:ln>
            <a:noFill/>
          </a:ln>
        </p:spPr>
        <p:txBody>
          <a:bodyPr spcFirstLastPara="1" wrap="square" lIns="68575" tIns="34275" rIns="68575" bIns="34275" anchor="t" anchorCtr="0">
            <a:spAutoFit/>
          </a:bodyPr>
          <a:lstStyle/>
          <a:p>
            <a:pPr lvl="0" algn="ctr"/>
            <a:r>
              <a:rPr lang="fr-FR" b="1" dirty="0">
                <a:solidFill>
                  <a:srgbClr val="FF5733"/>
                </a:solidFill>
              </a:rPr>
              <a:t>Groupe VYV - MNT</a:t>
            </a:r>
            <a:endParaRPr lang="fr-FR" sz="1100" dirty="0"/>
          </a:p>
        </p:txBody>
      </p:sp>
      <p:sp>
        <p:nvSpPr>
          <p:cNvPr id="203" name="Google Shape;203;p27"/>
          <p:cNvSpPr txBox="1"/>
          <p:nvPr/>
        </p:nvSpPr>
        <p:spPr>
          <a:xfrm>
            <a:off x="6406830" y="555575"/>
            <a:ext cx="14871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05" name="Google Shape;205;p27"/>
          <p:cNvSpPr txBox="1"/>
          <p:nvPr/>
        </p:nvSpPr>
        <p:spPr>
          <a:xfrm>
            <a:off x="85723" y="1044404"/>
            <a:ext cx="42153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3 :</a:t>
            </a:r>
            <a:endParaRPr sz="1000" dirty="0"/>
          </a:p>
          <a:p>
            <a:pPr marL="0" marR="0" lvl="0" indent="0" algn="l" rtl="0">
              <a:spcBef>
                <a:spcPts val="0"/>
              </a:spcBef>
              <a:spcAft>
                <a:spcPts val="0"/>
              </a:spcAft>
              <a:buNone/>
            </a:pPr>
            <a:r>
              <a:rPr lang="en" sz="900" dirty="0">
                <a:solidFill>
                  <a:schemeClr val="dk1"/>
                </a:solidFill>
              </a:rPr>
              <a:t>Evaluation des programmes de prévention des Troubles musculosquelettiques</a:t>
            </a:r>
            <a:endParaRPr sz="900" dirty="0"/>
          </a:p>
        </p:txBody>
      </p:sp>
      <p:sp>
        <p:nvSpPr>
          <p:cNvPr id="206" name="Google Shape;206;p27"/>
          <p:cNvSpPr txBox="1"/>
          <p:nvPr/>
        </p:nvSpPr>
        <p:spPr>
          <a:xfrm>
            <a:off x="4750592" y="1522543"/>
            <a:ext cx="4393500" cy="1331103"/>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l" rtl="0">
              <a:spcBef>
                <a:spcPts val="0"/>
              </a:spcBef>
              <a:spcAft>
                <a:spcPts val="0"/>
              </a:spcAft>
              <a:buNone/>
            </a:pPr>
            <a:r>
              <a:rPr lang="fr-FR" sz="900" b="0" i="0" u="none" strike="noStrike" dirty="0">
                <a:solidFill>
                  <a:schemeClr val="dk1"/>
                </a:solidFill>
                <a:latin typeface="Arial"/>
                <a:ea typeface="Arial"/>
                <a:cs typeface="Arial"/>
                <a:sym typeface="Arial"/>
              </a:rPr>
              <a:t>Des agents de la mutuelle bénéficient de micro-cures thermales dans le cadre d’un dispositif expérimental. Le projet vise à en évaluer les bienfaits afin d’étudier leur extension à l’ensemble des adhérents sous la forme d’une nouvelle offre. L’étude combine l’analyse de la satisfaction, de l’amélioration perçue de la santé et de l’évolution des consommations de soins. Elle cherche à apprécier les bénéfices du dispositif et leur durabilité, afin d’éclairer les décisions concernant son renouvellement, les modalités d’accompagnement et son éventuel déploiement à plus grande échelle.</a:t>
            </a:r>
            <a:endParaRPr sz="900" dirty="0">
              <a:solidFill>
                <a:schemeClr val="dk1"/>
              </a:solidFill>
              <a:latin typeface="Arial"/>
              <a:ea typeface="Arial"/>
              <a:cs typeface="Arial"/>
              <a:sym typeface="Arial"/>
            </a:endParaRPr>
          </a:p>
        </p:txBody>
      </p:sp>
      <p:sp>
        <p:nvSpPr>
          <p:cNvPr id="207" name="Google Shape;207;p27"/>
          <p:cNvSpPr txBox="1"/>
          <p:nvPr/>
        </p:nvSpPr>
        <p:spPr>
          <a:xfrm>
            <a:off x="4722019" y="2918482"/>
            <a:ext cx="4380900" cy="1484992"/>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Missions :</a:t>
            </a:r>
            <a:endParaRPr sz="1000" dirty="0"/>
          </a:p>
          <a:p>
            <a:pPr marL="215900" lvl="0" indent="-215900">
              <a:buClr>
                <a:schemeClr val="dk1"/>
              </a:buClr>
              <a:buSzPts val="1000"/>
              <a:buFont typeface="Arial"/>
              <a:buChar char="•"/>
            </a:pPr>
            <a:r>
              <a:rPr lang="en" sz="900" dirty="0">
                <a:solidFill>
                  <a:schemeClr val="dk1"/>
                </a:solidFill>
                <a:latin typeface="Arial"/>
                <a:ea typeface="Arial"/>
                <a:cs typeface="Arial"/>
                <a:sym typeface="Arial"/>
              </a:rPr>
              <a:t>Analyse </a:t>
            </a:r>
            <a:r>
              <a:rPr lang="en" sz="900" dirty="0">
                <a:solidFill>
                  <a:schemeClr val="dk1"/>
                </a:solidFill>
              </a:rPr>
              <a:t>des données qualitatives et quantitatives </a:t>
            </a:r>
          </a:p>
          <a:p>
            <a:pPr marL="215900" lvl="0" indent="-215900">
              <a:buClr>
                <a:schemeClr val="dk1"/>
              </a:buClr>
              <a:buSzPts val="1000"/>
              <a:buFont typeface="Arial"/>
              <a:buChar char="•"/>
            </a:pPr>
            <a:r>
              <a:rPr lang="fr-FR" sz="900" dirty="0">
                <a:solidFill>
                  <a:schemeClr val="dk1"/>
                </a:solidFill>
                <a:latin typeface="Arial"/>
                <a:ea typeface="Arial"/>
                <a:cs typeface="Arial"/>
                <a:sym typeface="Arial"/>
              </a:rPr>
              <a:t>Analyse de la satisfaction et des retours sur le bien être et l’amélioration ressentie.</a:t>
            </a:r>
          </a:p>
          <a:p>
            <a:pPr marL="215900" lvl="0" indent="-215900">
              <a:buClr>
                <a:schemeClr val="dk1"/>
              </a:buClr>
              <a:buSzPts val="1000"/>
              <a:buFont typeface="Arial"/>
              <a:buChar char="•"/>
            </a:pPr>
            <a:r>
              <a:rPr lang="fr-FR" sz="900" dirty="0">
                <a:solidFill>
                  <a:schemeClr val="dk1"/>
                </a:solidFill>
                <a:latin typeface="Arial"/>
                <a:ea typeface="Arial"/>
                <a:cs typeface="Arial"/>
                <a:sym typeface="Arial"/>
              </a:rPr>
              <a:t>Étude des intentions de renouvellement et de recommandation à partir des données NLP.</a:t>
            </a:r>
          </a:p>
          <a:p>
            <a:pPr marL="215900" lvl="0" indent="-215900">
              <a:buClr>
                <a:schemeClr val="dk1"/>
              </a:buClr>
              <a:buSzPts val="1000"/>
              <a:buFont typeface="Arial"/>
              <a:buChar char="•"/>
            </a:pPr>
            <a:r>
              <a:rPr lang="fr-FR" sz="900" dirty="0">
                <a:solidFill>
                  <a:schemeClr val="dk1"/>
                </a:solidFill>
                <a:latin typeface="Arial"/>
                <a:ea typeface="Arial"/>
                <a:cs typeface="Arial"/>
                <a:sym typeface="Arial"/>
              </a:rPr>
              <a:t>Examen de la durée des effets rapportés et de l’évolution des consommations de soins.</a:t>
            </a:r>
          </a:p>
          <a:p>
            <a:pPr marL="215900" lvl="0" indent="-215900">
              <a:buClr>
                <a:schemeClr val="dk1"/>
              </a:buClr>
              <a:buSzPts val="1000"/>
              <a:buFont typeface="Arial"/>
              <a:buChar char="•"/>
            </a:pPr>
            <a:r>
              <a:rPr lang="fr-FR" sz="900" dirty="0">
                <a:solidFill>
                  <a:schemeClr val="dk1"/>
                </a:solidFill>
                <a:latin typeface="Arial"/>
                <a:ea typeface="Arial"/>
                <a:cs typeface="Arial"/>
                <a:sym typeface="Arial"/>
              </a:rPr>
              <a:t>Restitution des conclusions en comité de pilotage</a:t>
            </a:r>
          </a:p>
          <a:p>
            <a:pPr marL="215900" marR="0" lvl="0" indent="-215900" algn="l" rtl="0">
              <a:spcBef>
                <a:spcPts val="0"/>
              </a:spcBef>
              <a:spcAft>
                <a:spcPts val="0"/>
              </a:spcAft>
              <a:buClr>
                <a:schemeClr val="dk1"/>
              </a:buClr>
              <a:buSzPts val="1000"/>
              <a:buFont typeface="Arial"/>
              <a:buChar char="•"/>
            </a:pPr>
            <a:endParaRPr sz="1000" dirty="0"/>
          </a:p>
        </p:txBody>
      </p:sp>
      <p:sp>
        <p:nvSpPr>
          <p:cNvPr id="208" name="Google Shape;208;p27"/>
          <p:cNvSpPr txBox="1"/>
          <p:nvPr/>
        </p:nvSpPr>
        <p:spPr>
          <a:xfrm>
            <a:off x="4699697" y="4396718"/>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lvl="0"/>
            <a:r>
              <a:rPr lang="fr-FR" sz="900" dirty="0">
                <a:solidFill>
                  <a:schemeClr val="dk1"/>
                </a:solidFill>
              </a:rPr>
              <a:t>Tests statistiques, analyse longitudinales, Python, SQL, </a:t>
            </a:r>
            <a:r>
              <a:rPr lang="fr-FR" sz="900" dirty="0" err="1">
                <a:solidFill>
                  <a:schemeClr val="dk1"/>
                </a:solidFill>
              </a:rPr>
              <a:t>Github</a:t>
            </a:r>
            <a:r>
              <a:rPr lang="fr-FR" sz="900" dirty="0">
                <a:solidFill>
                  <a:schemeClr val="dk1"/>
                </a:solidFill>
              </a:rPr>
              <a:t>, clustering, </a:t>
            </a:r>
            <a:r>
              <a:rPr lang="fr-FR" sz="900" dirty="0" err="1">
                <a:solidFill>
                  <a:schemeClr val="dk1"/>
                </a:solidFill>
              </a:rPr>
              <a:t>Statsmodels</a:t>
            </a:r>
            <a:endParaRPr lang="fr-FR" sz="900" dirty="0">
              <a:solidFill>
                <a:schemeClr val="dk1"/>
              </a:solidFill>
            </a:endParaRPr>
          </a:p>
        </p:txBody>
      </p:sp>
      <p:sp>
        <p:nvSpPr>
          <p:cNvPr id="209" name="Google Shape;209;p27"/>
          <p:cNvSpPr txBox="1"/>
          <p:nvPr/>
        </p:nvSpPr>
        <p:spPr>
          <a:xfrm>
            <a:off x="4750592" y="1096100"/>
            <a:ext cx="43935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4 :</a:t>
            </a:r>
            <a:endParaRPr sz="1000" dirty="0"/>
          </a:p>
          <a:p>
            <a:pPr marL="0" marR="0" lvl="0" indent="0" algn="just" rtl="0">
              <a:spcBef>
                <a:spcPts val="0"/>
              </a:spcBef>
              <a:spcAft>
                <a:spcPts val="0"/>
              </a:spcAft>
              <a:buNone/>
            </a:pPr>
            <a:r>
              <a:rPr lang="en" sz="900" dirty="0">
                <a:solidFill>
                  <a:schemeClr val="dk1"/>
                </a:solidFill>
              </a:rPr>
              <a:t>Evaluation du programme des micros cures thermales,</a:t>
            </a:r>
            <a:endParaRPr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p:nvPr/>
        </p:nvSpPr>
        <p:spPr>
          <a:xfrm>
            <a:off x="0" y="4964906"/>
            <a:ext cx="9144000" cy="178500"/>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15" name="Google Shape;215;p28"/>
          <p:cNvPicPr preferRelativeResize="0"/>
          <p:nvPr/>
        </p:nvPicPr>
        <p:blipFill rotWithShape="1">
          <a:blip r:embed="rId3">
            <a:alphaModFix/>
          </a:blip>
          <a:srcRect l="12204" r="26409" b="13510"/>
          <a:stretch/>
        </p:blipFill>
        <p:spPr>
          <a:xfrm>
            <a:off x="85724" y="335013"/>
            <a:ext cx="4429128" cy="636290"/>
          </a:xfrm>
          <a:prstGeom prst="rect">
            <a:avLst/>
          </a:prstGeom>
          <a:noFill/>
          <a:ln w="38100" cap="flat" cmpd="sng">
            <a:solidFill>
              <a:srgbClr val="FF5733"/>
            </a:solidFill>
            <a:prstDash val="solid"/>
            <a:round/>
            <a:headEnd type="none" w="sm" len="sm"/>
            <a:tailEnd type="none" w="sm" len="sm"/>
          </a:ln>
        </p:spPr>
      </p:pic>
      <p:cxnSp>
        <p:nvCxnSpPr>
          <p:cNvPr id="216" name="Google Shape;216;p28"/>
          <p:cNvCxnSpPr/>
          <p:nvPr/>
        </p:nvCxnSpPr>
        <p:spPr>
          <a:xfrm>
            <a:off x="4629150" y="1100138"/>
            <a:ext cx="0" cy="3693300"/>
          </a:xfrm>
          <a:prstGeom prst="straightConnector1">
            <a:avLst/>
          </a:prstGeom>
          <a:noFill/>
          <a:ln w="57150" cap="flat" cmpd="sng">
            <a:solidFill>
              <a:srgbClr val="FF5733"/>
            </a:solidFill>
            <a:prstDash val="solid"/>
            <a:miter lim="800000"/>
            <a:headEnd type="none" w="sm" len="sm"/>
            <a:tailEnd type="none" w="sm" len="sm"/>
          </a:ln>
        </p:spPr>
      </p:cxnSp>
      <p:pic>
        <p:nvPicPr>
          <p:cNvPr id="217" name="Google Shape;217;p28"/>
          <p:cNvPicPr preferRelativeResize="0"/>
          <p:nvPr/>
        </p:nvPicPr>
        <p:blipFill rotWithShape="1">
          <a:blip r:embed="rId3">
            <a:alphaModFix/>
          </a:blip>
          <a:srcRect l="12204" r="26409" b="13510"/>
          <a:stretch/>
        </p:blipFill>
        <p:spPr>
          <a:xfrm>
            <a:off x="4722019" y="335013"/>
            <a:ext cx="4336256" cy="636290"/>
          </a:xfrm>
          <a:prstGeom prst="rect">
            <a:avLst/>
          </a:prstGeom>
          <a:noFill/>
          <a:ln w="38100" cap="flat" cmpd="sng">
            <a:solidFill>
              <a:srgbClr val="FF5733"/>
            </a:solidFill>
            <a:prstDash val="solid"/>
            <a:round/>
            <a:headEnd type="none" w="sm" len="sm"/>
            <a:tailEnd type="none" w="sm" len="sm"/>
          </a:ln>
        </p:spPr>
      </p:pic>
      <p:sp>
        <p:nvSpPr>
          <p:cNvPr id="218" name="Google Shape;218;p28"/>
          <p:cNvSpPr txBox="1"/>
          <p:nvPr/>
        </p:nvSpPr>
        <p:spPr>
          <a:xfrm>
            <a:off x="57188" y="1645854"/>
            <a:ext cx="4350900" cy="777106"/>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just" rtl="0">
              <a:spcBef>
                <a:spcPts val="0"/>
              </a:spcBef>
              <a:spcAft>
                <a:spcPts val="0"/>
              </a:spcAft>
              <a:buNone/>
            </a:pPr>
            <a:r>
              <a:rPr lang="fr-FR" sz="900" dirty="0">
                <a:solidFill>
                  <a:schemeClr val="dk1"/>
                </a:solidFill>
                <a:latin typeface="+mn-lt"/>
                <a:ea typeface="Roboto"/>
                <a:cs typeface="Roboto"/>
                <a:sym typeface="Roboto"/>
              </a:rPr>
              <a:t>Les conseillers de gestion reçoivent des demandes fréquentes pouvant être traitées à partir de procédures et de contenus de référence. Le projet associe un </a:t>
            </a:r>
            <a:r>
              <a:rPr lang="fr-FR" sz="900" dirty="0" err="1">
                <a:solidFill>
                  <a:schemeClr val="dk1"/>
                </a:solidFill>
                <a:latin typeface="+mn-lt"/>
                <a:ea typeface="Roboto"/>
                <a:cs typeface="Roboto"/>
                <a:sym typeface="Roboto"/>
              </a:rPr>
              <a:t>chatbot</a:t>
            </a:r>
            <a:r>
              <a:rPr lang="fr-FR" sz="900" dirty="0">
                <a:solidFill>
                  <a:schemeClr val="dk1"/>
                </a:solidFill>
                <a:latin typeface="+mn-lt"/>
                <a:ea typeface="Roboto"/>
                <a:cs typeface="Roboto"/>
                <a:sym typeface="Roboto"/>
              </a:rPr>
              <a:t> destiné aux adhérents et la génération de propositions de réponse pour les conseillers.</a:t>
            </a:r>
            <a:endParaRPr sz="900" dirty="0">
              <a:solidFill>
                <a:schemeClr val="dk1"/>
              </a:solidFill>
              <a:latin typeface="+mn-lt"/>
              <a:ea typeface="Arial"/>
              <a:cs typeface="Arial"/>
              <a:sym typeface="Arial"/>
            </a:endParaRPr>
          </a:p>
        </p:txBody>
      </p:sp>
      <p:sp>
        <p:nvSpPr>
          <p:cNvPr id="219" name="Google Shape;219;p28"/>
          <p:cNvSpPr txBox="1"/>
          <p:nvPr/>
        </p:nvSpPr>
        <p:spPr>
          <a:xfrm>
            <a:off x="57188" y="2580900"/>
            <a:ext cx="4486200" cy="1754296"/>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50" b="1" dirty="0">
                <a:solidFill>
                  <a:schemeClr val="dk1"/>
                </a:solidFill>
                <a:highlight>
                  <a:srgbClr val="FFFFFF"/>
                </a:highlight>
                <a:latin typeface="Roboto"/>
                <a:ea typeface="Roboto"/>
                <a:cs typeface="Roboto"/>
                <a:sym typeface="Roboto"/>
              </a:rPr>
              <a:t>Missions :</a:t>
            </a:r>
            <a:endParaRPr sz="1050" b="1" dirty="0">
              <a:solidFill>
                <a:schemeClr val="dk1"/>
              </a:solidFill>
              <a:highlight>
                <a:srgbClr val="FFFFFF"/>
              </a:highlight>
              <a:latin typeface="Roboto"/>
              <a:ea typeface="Roboto"/>
              <a:cs typeface="Roboto"/>
              <a:sym typeface="Roboto"/>
            </a:endParaRPr>
          </a:p>
          <a:p>
            <a:pPr marL="457200" lvl="0" indent="-292100" algn="l" rtl="0">
              <a:spcBef>
                <a:spcPts val="0"/>
              </a:spcBef>
              <a:spcAft>
                <a:spcPts val="0"/>
              </a:spcAft>
              <a:buClr>
                <a:schemeClr val="dk1"/>
              </a:buClr>
              <a:buSzPts val="1000"/>
              <a:buChar char="•"/>
            </a:pPr>
            <a:r>
              <a:rPr lang="en" sz="900" dirty="0">
                <a:solidFill>
                  <a:schemeClr val="dk1"/>
                </a:solidFill>
                <a:highlight>
                  <a:srgbClr val="FFFFFF"/>
                </a:highlight>
                <a:latin typeface="+mn-lt"/>
                <a:ea typeface="Roboto"/>
                <a:cs typeface="Roboto"/>
                <a:sym typeface="Roboto"/>
              </a:rPr>
              <a:t>Récolte des besoins clients,</a:t>
            </a:r>
            <a:endParaRPr sz="900" dirty="0">
              <a:solidFill>
                <a:schemeClr val="dk1"/>
              </a:solidFill>
              <a:highlight>
                <a:srgbClr val="FFFFFF"/>
              </a:highlight>
              <a:latin typeface="+mn-lt"/>
              <a:ea typeface="Roboto"/>
              <a:cs typeface="Roboto"/>
              <a:sym typeface="Roboto"/>
            </a:endParaRPr>
          </a:p>
          <a:p>
            <a:pPr marL="457200" lvl="0" indent="-292100" algn="l" rtl="0">
              <a:spcBef>
                <a:spcPts val="0"/>
              </a:spcBef>
              <a:spcAft>
                <a:spcPts val="0"/>
              </a:spcAft>
              <a:buClr>
                <a:schemeClr val="dk1"/>
              </a:buClr>
              <a:buSzPts val="1000"/>
              <a:buChar char="•"/>
            </a:pPr>
            <a:r>
              <a:rPr lang="en" sz="900" dirty="0">
                <a:solidFill>
                  <a:schemeClr val="dk1"/>
                </a:solidFill>
                <a:highlight>
                  <a:srgbClr val="FFFFFF"/>
                </a:highlight>
                <a:latin typeface="+mn-lt"/>
                <a:ea typeface="Roboto"/>
                <a:cs typeface="Roboto"/>
                <a:sym typeface="Roboto"/>
              </a:rPr>
              <a:t>Création des POC,</a:t>
            </a:r>
            <a:endParaRPr sz="900" dirty="0">
              <a:solidFill>
                <a:schemeClr val="dk1"/>
              </a:solidFill>
              <a:highlight>
                <a:srgbClr val="FFFFFF"/>
              </a:highlight>
              <a:latin typeface="+mn-lt"/>
              <a:ea typeface="Roboto"/>
              <a:cs typeface="Roboto"/>
              <a:sym typeface="Roboto"/>
            </a:endParaRPr>
          </a:p>
          <a:p>
            <a:pPr marL="457200" lvl="0" indent="-292100" algn="l" rtl="0">
              <a:spcBef>
                <a:spcPts val="0"/>
              </a:spcBef>
              <a:spcAft>
                <a:spcPts val="0"/>
              </a:spcAft>
              <a:buClr>
                <a:schemeClr val="dk1"/>
              </a:buClr>
              <a:buSzPts val="1000"/>
              <a:buChar char="•"/>
            </a:pPr>
            <a:r>
              <a:rPr lang="en" sz="900" dirty="0">
                <a:solidFill>
                  <a:schemeClr val="dk1"/>
                </a:solidFill>
                <a:highlight>
                  <a:srgbClr val="FFFFFF"/>
                </a:highlight>
                <a:latin typeface="+mn-lt"/>
                <a:ea typeface="Roboto"/>
                <a:cs typeface="Roboto"/>
                <a:sym typeface="Roboto"/>
              </a:rPr>
              <a:t>Création de l’UI,</a:t>
            </a:r>
            <a:endParaRPr sz="900" dirty="0">
              <a:solidFill>
                <a:schemeClr val="dk1"/>
              </a:solidFill>
              <a:highlight>
                <a:srgbClr val="FFFFFF"/>
              </a:highlight>
              <a:latin typeface="+mn-lt"/>
              <a:ea typeface="Roboto"/>
              <a:cs typeface="Roboto"/>
              <a:sym typeface="Roboto"/>
            </a:endParaRP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Définir les demandes couvertes et les cas nécessitant une escalade vers un conseiller.</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Préparer le corpus et concevoir une recherche documentaire avec réponses sourcées.</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Organiser l’évaluation des réponses et le contrôle humain des propositions destinées aux conseillers.</a:t>
            </a:r>
          </a:p>
          <a:p>
            <a:pPr marL="457200" lvl="0" indent="-292100">
              <a:buClr>
                <a:schemeClr val="dk1"/>
              </a:buClr>
              <a:buSzPts val="1000"/>
              <a:buChar char="•"/>
            </a:pPr>
            <a:r>
              <a:rPr lang="fr-FR" sz="900" dirty="0">
                <a:solidFill>
                  <a:schemeClr val="dk1"/>
                </a:solidFill>
                <a:highlight>
                  <a:srgbClr val="FFFFFF"/>
                </a:highlight>
                <a:latin typeface="+mn-lt"/>
                <a:ea typeface="Roboto"/>
                <a:cs typeface="Roboto"/>
                <a:sym typeface="Roboto"/>
              </a:rPr>
              <a:t>Coordonner l’intégration, </a:t>
            </a:r>
            <a:r>
              <a:rPr lang="en" sz="900" dirty="0">
                <a:solidFill>
                  <a:schemeClr val="dk1"/>
                </a:solidFill>
                <a:highlight>
                  <a:srgbClr val="FFFFFF"/>
                </a:highlight>
                <a:latin typeface="+mn-lt"/>
                <a:ea typeface="Roboto"/>
                <a:cs typeface="Roboto"/>
                <a:sym typeface="Roboto"/>
              </a:rPr>
              <a:t>Mise en production des solutions, </a:t>
            </a:r>
            <a:r>
              <a:rPr lang="fr-FR" sz="900" dirty="0">
                <a:solidFill>
                  <a:schemeClr val="dk1"/>
                </a:solidFill>
                <a:highlight>
                  <a:srgbClr val="FFFFFF"/>
                </a:highlight>
                <a:latin typeface="+mn-lt"/>
                <a:ea typeface="Roboto"/>
                <a:cs typeface="Roboto"/>
                <a:sym typeface="Roboto"/>
              </a:rPr>
              <a:t>le déploiement progressif et la mesure du temps de traitement et de l’adoption. </a:t>
            </a:r>
            <a:endParaRPr sz="900" b="1" dirty="0">
              <a:solidFill>
                <a:schemeClr val="dk1"/>
              </a:solidFill>
              <a:latin typeface="+mn-lt"/>
            </a:endParaRPr>
          </a:p>
        </p:txBody>
      </p:sp>
      <p:sp>
        <p:nvSpPr>
          <p:cNvPr id="220" name="Google Shape;220;p28"/>
          <p:cNvSpPr txBox="1"/>
          <p:nvPr/>
        </p:nvSpPr>
        <p:spPr>
          <a:xfrm>
            <a:off x="-19590" y="4420930"/>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highlight>
                  <a:srgbClr val="FFFFFF"/>
                </a:highlight>
                <a:latin typeface="+mn-lt"/>
                <a:ea typeface="Roboto"/>
                <a:cs typeface="Roboto"/>
                <a:sym typeface="Roboto"/>
              </a:rPr>
              <a:t>Python, LLM, Langsmith, Langchain, LlamaIndex, base vectorielle Qdrant, Docker, connecteurs CRM</a:t>
            </a:r>
            <a:endParaRPr sz="900" dirty="0">
              <a:solidFill>
                <a:schemeClr val="dk1"/>
              </a:solidFill>
              <a:latin typeface="+mn-lt"/>
              <a:ea typeface="Arial"/>
              <a:cs typeface="Arial"/>
              <a:sym typeface="Arial"/>
            </a:endParaRPr>
          </a:p>
        </p:txBody>
      </p:sp>
      <p:sp>
        <p:nvSpPr>
          <p:cNvPr id="222" name="Google Shape;222;p28"/>
          <p:cNvSpPr txBox="1"/>
          <p:nvPr/>
        </p:nvSpPr>
        <p:spPr>
          <a:xfrm>
            <a:off x="1805544" y="545400"/>
            <a:ext cx="16443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25" name="Google Shape;225;p28"/>
          <p:cNvSpPr txBox="1"/>
          <p:nvPr/>
        </p:nvSpPr>
        <p:spPr>
          <a:xfrm>
            <a:off x="6406830" y="555575"/>
            <a:ext cx="14871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27" name="Google Shape;227;p28"/>
          <p:cNvSpPr txBox="1"/>
          <p:nvPr/>
        </p:nvSpPr>
        <p:spPr>
          <a:xfrm>
            <a:off x="85723" y="1044404"/>
            <a:ext cx="42153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5 :</a:t>
            </a:r>
            <a:endParaRPr sz="1000" dirty="0"/>
          </a:p>
          <a:p>
            <a:pPr marL="0" marR="0" lvl="0" indent="0" algn="l" rtl="0">
              <a:spcBef>
                <a:spcPts val="0"/>
              </a:spcBef>
              <a:spcAft>
                <a:spcPts val="0"/>
              </a:spcAft>
              <a:buNone/>
            </a:pPr>
            <a:r>
              <a:rPr lang="en" sz="900" dirty="0">
                <a:solidFill>
                  <a:schemeClr val="dk1"/>
                </a:solidFill>
                <a:highlight>
                  <a:srgbClr val="FFFFFF"/>
                </a:highlight>
                <a:latin typeface="+mn-lt"/>
                <a:ea typeface="Roboto"/>
                <a:cs typeface="Roboto"/>
                <a:sym typeface="Roboto"/>
              </a:rPr>
              <a:t>Déploiement de chatbots utilisant des LLMs et des RAG pour répondre à différents besoins métiers</a:t>
            </a:r>
            <a:endParaRPr sz="900" dirty="0">
              <a:latin typeface="+mn-lt"/>
            </a:endParaRPr>
          </a:p>
        </p:txBody>
      </p:sp>
      <p:sp>
        <p:nvSpPr>
          <p:cNvPr id="228" name="Google Shape;228;p28"/>
          <p:cNvSpPr txBox="1"/>
          <p:nvPr/>
        </p:nvSpPr>
        <p:spPr>
          <a:xfrm>
            <a:off x="4750592" y="1645854"/>
            <a:ext cx="4393500" cy="1054104"/>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Contexte :</a:t>
            </a:r>
            <a:endParaRPr sz="1000" dirty="0">
              <a:solidFill>
                <a:schemeClr val="dk1"/>
              </a:solidFill>
            </a:endParaRPr>
          </a:p>
          <a:p>
            <a:pPr marL="0" lvl="0" indent="0" algn="just" rtl="0">
              <a:spcBef>
                <a:spcPts val="0"/>
              </a:spcBef>
              <a:spcAft>
                <a:spcPts val="0"/>
              </a:spcAft>
              <a:buNone/>
            </a:pPr>
            <a:r>
              <a:rPr lang="fr-FR" sz="900" dirty="0">
                <a:solidFill>
                  <a:schemeClr val="dk1"/>
                </a:solidFill>
              </a:rPr>
              <a:t>Des données d’actifs ou des enregistrements financiers comportent des doublons provenant de différents fournisseurs. La sélection d’un enregistrement nécessite une règle claire, notamment lorsque plusieurs lignes présentent une valeur identique sur le critère principal. L’objectif est de fiabiliser la sélection et la déduplication en définissant un départage déterministe des égalités, adapté aux règles métier.</a:t>
            </a:r>
            <a:endParaRPr sz="900" b="1" dirty="0">
              <a:solidFill>
                <a:schemeClr val="dk1"/>
              </a:solidFill>
            </a:endParaRPr>
          </a:p>
        </p:txBody>
      </p:sp>
      <p:sp>
        <p:nvSpPr>
          <p:cNvPr id="229" name="Google Shape;229;p28"/>
          <p:cNvSpPr txBox="1"/>
          <p:nvPr/>
        </p:nvSpPr>
        <p:spPr>
          <a:xfrm>
            <a:off x="4763100" y="2964649"/>
            <a:ext cx="4380900" cy="777106"/>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00" b="1" dirty="0">
                <a:solidFill>
                  <a:schemeClr val="dk1"/>
                </a:solidFill>
              </a:rPr>
              <a:t>Missions :</a:t>
            </a:r>
            <a:endParaRPr sz="1000" dirty="0">
              <a:solidFill>
                <a:schemeClr val="dk1"/>
              </a:solidFill>
            </a:endParaRPr>
          </a:p>
          <a:p>
            <a:pPr marL="215900" lvl="0" indent="-215900" algn="l" rtl="0">
              <a:spcBef>
                <a:spcPts val="0"/>
              </a:spcBef>
              <a:spcAft>
                <a:spcPts val="0"/>
              </a:spcAft>
              <a:buClr>
                <a:schemeClr val="dk1"/>
              </a:buClr>
              <a:buSzPts val="1000"/>
              <a:buChar char="•"/>
            </a:pPr>
            <a:r>
              <a:rPr lang="fr-FR" sz="900" dirty="0">
                <a:solidFill>
                  <a:schemeClr val="dk1"/>
                </a:solidFill>
              </a:rPr>
              <a:t>script de dédoublonnage de données d’actifs et émetteurs.</a:t>
            </a:r>
          </a:p>
          <a:p>
            <a:pPr marL="215900" lvl="0" indent="-215900" algn="l" rtl="0">
              <a:spcBef>
                <a:spcPts val="0"/>
              </a:spcBef>
              <a:spcAft>
                <a:spcPts val="0"/>
              </a:spcAft>
              <a:buClr>
                <a:schemeClr val="dk1"/>
              </a:buClr>
              <a:buSzPts val="1000"/>
              <a:buChar char="•"/>
            </a:pPr>
            <a:r>
              <a:rPr lang="fr-FR" sz="900" dirty="0">
                <a:solidFill>
                  <a:schemeClr val="dk1"/>
                </a:solidFill>
              </a:rPr>
              <a:t>Prise en compte explicite du cas d’égalité pour éviter une sélection ambiguë.</a:t>
            </a:r>
          </a:p>
          <a:p>
            <a:pPr marL="215900" lvl="0" indent="-215900" algn="l" rtl="0">
              <a:spcBef>
                <a:spcPts val="0"/>
              </a:spcBef>
              <a:spcAft>
                <a:spcPts val="0"/>
              </a:spcAft>
              <a:buClr>
                <a:schemeClr val="dk1"/>
              </a:buClr>
              <a:buSzPts val="1000"/>
              <a:buChar char="•"/>
            </a:pPr>
            <a:r>
              <a:rPr lang="fr-FR" sz="900" dirty="0">
                <a:solidFill>
                  <a:schemeClr val="dk1"/>
                </a:solidFill>
              </a:rPr>
              <a:t>Mise en place d’une Clé de doublon, ordre des priorités et critères secondaires.</a:t>
            </a:r>
          </a:p>
          <a:p>
            <a:pPr marL="215900" lvl="0" indent="-215900" algn="l" rtl="0">
              <a:spcBef>
                <a:spcPts val="0"/>
              </a:spcBef>
              <a:spcAft>
                <a:spcPts val="0"/>
              </a:spcAft>
              <a:buClr>
                <a:schemeClr val="dk1"/>
              </a:buClr>
              <a:buSzPts val="1000"/>
              <a:buChar char="•"/>
            </a:pPr>
            <a:r>
              <a:rPr lang="fr-FR" sz="900" dirty="0">
                <a:solidFill>
                  <a:schemeClr val="dk1"/>
                </a:solidFill>
              </a:rPr>
              <a:t>Implémentation, Tests et Intégration dans l’outil de finance, et Documentation</a:t>
            </a:r>
            <a:endParaRPr sz="900" b="1" dirty="0">
              <a:solidFill>
                <a:schemeClr val="dk1"/>
              </a:solidFill>
            </a:endParaRPr>
          </a:p>
        </p:txBody>
      </p:sp>
      <p:sp>
        <p:nvSpPr>
          <p:cNvPr id="230" name="Google Shape;230;p28"/>
          <p:cNvSpPr txBox="1"/>
          <p:nvPr/>
        </p:nvSpPr>
        <p:spPr>
          <a:xfrm>
            <a:off x="4686351" y="4399767"/>
            <a:ext cx="4542000"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rgbClr val="FF5733"/>
                </a:solidFill>
              </a:rPr>
              <a:t>Environnement technique :</a:t>
            </a:r>
            <a:endParaRPr sz="1000" dirty="0">
              <a:solidFill>
                <a:schemeClr val="dk1"/>
              </a:solidFill>
            </a:endParaRPr>
          </a:p>
          <a:p>
            <a:pPr marL="0" lvl="0" indent="0" algn="l" rtl="0">
              <a:spcBef>
                <a:spcPts val="0"/>
              </a:spcBef>
              <a:spcAft>
                <a:spcPts val="0"/>
              </a:spcAft>
              <a:buNone/>
            </a:pPr>
            <a:r>
              <a:rPr lang="en" sz="900" dirty="0">
                <a:solidFill>
                  <a:schemeClr val="dk1"/>
                </a:solidFill>
              </a:rPr>
              <a:t>Python, SQL, Github, FastApi</a:t>
            </a:r>
            <a:endParaRPr sz="900" b="1" dirty="0">
              <a:solidFill>
                <a:srgbClr val="FF5733"/>
              </a:solidFill>
            </a:endParaRPr>
          </a:p>
        </p:txBody>
      </p:sp>
      <p:sp>
        <p:nvSpPr>
          <p:cNvPr id="231" name="Google Shape;231;p28"/>
          <p:cNvSpPr txBox="1"/>
          <p:nvPr/>
        </p:nvSpPr>
        <p:spPr>
          <a:xfrm>
            <a:off x="4750592" y="1096100"/>
            <a:ext cx="4393500"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Projet 6:</a:t>
            </a:r>
            <a:endParaRPr sz="1000" dirty="0">
              <a:solidFill>
                <a:schemeClr val="dk1"/>
              </a:solidFill>
            </a:endParaRPr>
          </a:p>
          <a:p>
            <a:pPr marL="0" lvl="0" indent="0" algn="l" rtl="0">
              <a:spcBef>
                <a:spcPts val="0"/>
              </a:spcBef>
              <a:spcAft>
                <a:spcPts val="0"/>
              </a:spcAft>
              <a:buNone/>
            </a:pPr>
            <a:r>
              <a:rPr lang="fr-FR" sz="900" dirty="0">
                <a:solidFill>
                  <a:schemeClr val="dk1"/>
                </a:solidFill>
              </a:rPr>
              <a:t>Dédoublonnage de données financières</a:t>
            </a:r>
            <a:endParaRPr sz="900" b="1" dirty="0">
              <a:solidFill>
                <a:schemeClr val="dk1"/>
              </a:solidFill>
            </a:endParaRPr>
          </a:p>
        </p:txBody>
      </p:sp>
      <p:sp>
        <p:nvSpPr>
          <p:cNvPr id="3" name="Google Shape;199;p27">
            <a:extLst>
              <a:ext uri="{FF2B5EF4-FFF2-40B4-BE49-F238E27FC236}">
                <a16:creationId xmlns:a16="http://schemas.microsoft.com/office/drawing/2014/main" id="{2B3DEAC2-617C-E1D2-E90F-B580B9DFDEE9}"/>
              </a:ext>
            </a:extLst>
          </p:cNvPr>
          <p:cNvSpPr txBox="1"/>
          <p:nvPr/>
        </p:nvSpPr>
        <p:spPr>
          <a:xfrm>
            <a:off x="6234672" y="326606"/>
            <a:ext cx="1344600"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a:t>
            </a:r>
            <a:endParaRPr lang="fr-FR" sz="1100" dirty="0"/>
          </a:p>
          <a:p>
            <a:pPr marL="0" lvl="0" indent="0" algn="ctr" rtl="0">
              <a:spcBef>
                <a:spcPts val="0"/>
              </a:spcBef>
              <a:spcAft>
                <a:spcPts val="0"/>
              </a:spcAft>
              <a:buNone/>
            </a:pPr>
            <a:endParaRPr b="1" dirty="0">
              <a:solidFill>
                <a:srgbClr val="FF5733"/>
              </a:solidFill>
            </a:endParaRPr>
          </a:p>
        </p:txBody>
      </p:sp>
      <p:sp>
        <p:nvSpPr>
          <p:cNvPr id="5" name="Google Shape;199;p27">
            <a:extLst>
              <a:ext uri="{FF2B5EF4-FFF2-40B4-BE49-F238E27FC236}">
                <a16:creationId xmlns:a16="http://schemas.microsoft.com/office/drawing/2014/main" id="{709D9A99-76F7-2C5B-F1DF-FA7E16FE77F7}"/>
              </a:ext>
            </a:extLst>
          </p:cNvPr>
          <p:cNvSpPr txBox="1"/>
          <p:nvPr/>
        </p:nvSpPr>
        <p:spPr>
          <a:xfrm>
            <a:off x="1627988" y="313256"/>
            <a:ext cx="1344600"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a:t>
            </a:r>
            <a:endParaRPr lang="fr-FR" sz="1100" dirty="0"/>
          </a:p>
          <a:p>
            <a:pPr marL="0" lvl="0" indent="0" algn="ctr" rtl="0">
              <a:spcBef>
                <a:spcPts val="0"/>
              </a:spcBef>
              <a:spcAft>
                <a:spcPts val="0"/>
              </a:spcAft>
              <a:buNone/>
            </a:pPr>
            <a:endParaRPr b="1" dirty="0">
              <a:solidFill>
                <a:srgbClr val="FF573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9"/>
          <p:cNvSpPr/>
          <p:nvPr/>
        </p:nvSpPr>
        <p:spPr>
          <a:xfrm>
            <a:off x="0" y="4964906"/>
            <a:ext cx="9144000" cy="178594"/>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37" name="Google Shape;237;p29"/>
          <p:cNvPicPr preferRelativeResize="0"/>
          <p:nvPr/>
        </p:nvPicPr>
        <p:blipFill rotWithShape="1">
          <a:blip r:embed="rId3">
            <a:alphaModFix/>
          </a:blip>
          <a:srcRect l="12205" r="26407" b="13512"/>
          <a:stretch/>
        </p:blipFill>
        <p:spPr>
          <a:xfrm>
            <a:off x="85724" y="335013"/>
            <a:ext cx="4429126" cy="636290"/>
          </a:xfrm>
          <a:prstGeom prst="rect">
            <a:avLst/>
          </a:prstGeom>
          <a:noFill/>
          <a:ln w="38100" cap="flat" cmpd="sng">
            <a:solidFill>
              <a:srgbClr val="FF5733"/>
            </a:solidFill>
            <a:prstDash val="solid"/>
            <a:round/>
            <a:headEnd type="none" w="sm" len="sm"/>
            <a:tailEnd type="none" w="sm" len="sm"/>
          </a:ln>
        </p:spPr>
      </p:pic>
      <p:cxnSp>
        <p:nvCxnSpPr>
          <p:cNvPr id="238" name="Google Shape;238;p29"/>
          <p:cNvCxnSpPr/>
          <p:nvPr/>
        </p:nvCxnSpPr>
        <p:spPr>
          <a:xfrm>
            <a:off x="4629150" y="1100138"/>
            <a:ext cx="0" cy="3693319"/>
          </a:xfrm>
          <a:prstGeom prst="straightConnector1">
            <a:avLst/>
          </a:prstGeom>
          <a:noFill/>
          <a:ln w="57150" cap="flat" cmpd="sng">
            <a:solidFill>
              <a:srgbClr val="FF5733"/>
            </a:solidFill>
            <a:prstDash val="solid"/>
            <a:miter lim="800000"/>
            <a:headEnd type="none" w="sm" len="sm"/>
            <a:tailEnd type="none" w="sm" len="sm"/>
          </a:ln>
        </p:spPr>
      </p:cxnSp>
      <p:pic>
        <p:nvPicPr>
          <p:cNvPr id="239" name="Google Shape;239;p29"/>
          <p:cNvPicPr preferRelativeResize="0"/>
          <p:nvPr/>
        </p:nvPicPr>
        <p:blipFill rotWithShape="1">
          <a:blip r:embed="rId3">
            <a:alphaModFix/>
          </a:blip>
          <a:srcRect l="12205" r="26407" b="13512"/>
          <a:stretch/>
        </p:blipFill>
        <p:spPr>
          <a:xfrm>
            <a:off x="4722019" y="335013"/>
            <a:ext cx="4336257" cy="636290"/>
          </a:xfrm>
          <a:prstGeom prst="rect">
            <a:avLst/>
          </a:prstGeom>
          <a:noFill/>
          <a:ln w="38100" cap="flat" cmpd="sng">
            <a:solidFill>
              <a:srgbClr val="FF5733"/>
            </a:solidFill>
            <a:prstDash val="solid"/>
            <a:round/>
            <a:headEnd type="none" w="sm" len="sm"/>
            <a:tailEnd type="none" w="sm" len="sm"/>
          </a:ln>
        </p:spPr>
      </p:pic>
      <p:sp>
        <p:nvSpPr>
          <p:cNvPr id="240" name="Google Shape;240;p29"/>
          <p:cNvSpPr txBox="1"/>
          <p:nvPr/>
        </p:nvSpPr>
        <p:spPr>
          <a:xfrm>
            <a:off x="60620" y="1407905"/>
            <a:ext cx="4536600" cy="1192604"/>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Contexte :</a:t>
            </a:r>
            <a:endParaRPr sz="1000" dirty="0">
              <a:solidFill>
                <a:schemeClr val="dk1"/>
              </a:solidFill>
            </a:endParaRPr>
          </a:p>
          <a:p>
            <a:pPr marL="0" lvl="0" indent="0" algn="l" rtl="0">
              <a:spcBef>
                <a:spcPts val="0"/>
              </a:spcBef>
              <a:spcAft>
                <a:spcPts val="0"/>
              </a:spcAft>
              <a:buClr>
                <a:schemeClr val="dk1"/>
              </a:buClr>
              <a:buFont typeface="Arial"/>
              <a:buNone/>
            </a:pPr>
            <a:r>
              <a:rPr lang="fr-FR" sz="900" dirty="0">
                <a:solidFill>
                  <a:schemeClr val="dk1"/>
                </a:solidFill>
              </a:rPr>
              <a:t>améliorer sa connaissance des adhérents afin de proposer des offres, services et actions de prévention plus pertinents. Les données internes contrats souscrits, ancienneté, composition du foyer déclarée et interactions avec le groupe apportent une première connaissance des clients, mais renseignent peu leur environnement territorial. Le projet consiste à enrichir ces données avec des sources externes pour mieux comprendre les contextes de vie, identifier des besoins potentiels, cartographier et affiner les segmentations utilisées par les équipes marketing et métier.</a:t>
            </a:r>
            <a:endParaRPr sz="900" b="1" dirty="0">
              <a:solidFill>
                <a:schemeClr val="dk1"/>
              </a:solidFill>
            </a:endParaRPr>
          </a:p>
        </p:txBody>
      </p:sp>
      <p:sp>
        <p:nvSpPr>
          <p:cNvPr id="241" name="Google Shape;241;p29"/>
          <p:cNvSpPr txBox="1"/>
          <p:nvPr/>
        </p:nvSpPr>
        <p:spPr>
          <a:xfrm>
            <a:off x="24619" y="2652734"/>
            <a:ext cx="4575600" cy="1885101"/>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00" b="1" dirty="0">
                <a:solidFill>
                  <a:schemeClr val="dk1"/>
                </a:solidFill>
              </a:rPr>
              <a:t>Missions :</a:t>
            </a:r>
            <a:endParaRPr sz="1000" dirty="0">
              <a:solidFill>
                <a:schemeClr val="dk1"/>
              </a:solidFill>
            </a:endParaRPr>
          </a:p>
          <a:p>
            <a:pPr marL="215900" lvl="0" indent="-215900" algn="l" rtl="0">
              <a:spcBef>
                <a:spcPts val="0"/>
              </a:spcBef>
              <a:spcAft>
                <a:spcPts val="0"/>
              </a:spcAft>
              <a:buClr>
                <a:schemeClr val="dk1"/>
              </a:buClr>
              <a:buSzPts val="1000"/>
              <a:buChar char="•"/>
            </a:pPr>
            <a:r>
              <a:rPr lang="fr-FR" sz="900" dirty="0">
                <a:solidFill>
                  <a:schemeClr val="dk1"/>
                </a:solidFill>
              </a:rPr>
              <a:t>Recueillir les besoins des directions marketing, commerciales et des responsables des offres santé, prévoyance et épargne retraite.</a:t>
            </a:r>
          </a:p>
          <a:p>
            <a:pPr marL="215900" lvl="0" indent="-215900" algn="l" rtl="0">
              <a:spcBef>
                <a:spcPts val="0"/>
              </a:spcBef>
              <a:spcAft>
                <a:spcPts val="0"/>
              </a:spcAft>
              <a:buClr>
                <a:schemeClr val="dk1"/>
              </a:buClr>
              <a:buSzPts val="1000"/>
              <a:buChar char="•"/>
            </a:pPr>
            <a:r>
              <a:rPr lang="fr-FR" sz="900" dirty="0">
                <a:solidFill>
                  <a:schemeClr val="dk1"/>
                </a:solidFill>
              </a:rPr>
              <a:t>Recenser et qualifier les sources externes selon leur pertinence.</a:t>
            </a:r>
          </a:p>
          <a:p>
            <a:pPr marL="215900" lvl="0" indent="-215900" algn="l" rtl="0">
              <a:spcBef>
                <a:spcPts val="0"/>
              </a:spcBef>
              <a:spcAft>
                <a:spcPts val="0"/>
              </a:spcAft>
              <a:buClr>
                <a:schemeClr val="dk1"/>
              </a:buClr>
              <a:buSzPts val="1000"/>
              <a:buChar char="•"/>
            </a:pPr>
            <a:r>
              <a:rPr lang="fr-FR" sz="900" dirty="0">
                <a:solidFill>
                  <a:schemeClr val="dk1"/>
                </a:solidFill>
              </a:rPr>
              <a:t>Fiabiliser les adresses et rattacher les adhérents à un référentiel géographique : commune, code INSEE ou IRIS lorsque cela est possible.</a:t>
            </a:r>
          </a:p>
          <a:p>
            <a:pPr marL="215900" lvl="0" indent="-215900" algn="l" rtl="0">
              <a:spcBef>
                <a:spcPts val="0"/>
              </a:spcBef>
              <a:spcAft>
                <a:spcPts val="0"/>
              </a:spcAft>
              <a:buClr>
                <a:schemeClr val="dk1"/>
              </a:buClr>
              <a:buSzPts val="1000"/>
              <a:buChar char="•"/>
            </a:pPr>
            <a:r>
              <a:rPr lang="fr-FR" sz="900" dirty="0">
                <a:solidFill>
                  <a:schemeClr val="dk1"/>
                </a:solidFill>
              </a:rPr>
              <a:t>Construire les traitements de collecte, de nettoyage et de rapprochement des données internes et externes.</a:t>
            </a:r>
          </a:p>
          <a:p>
            <a:pPr marL="215900" lvl="0" indent="-215900" algn="l" rtl="0">
              <a:spcBef>
                <a:spcPts val="0"/>
              </a:spcBef>
              <a:spcAft>
                <a:spcPts val="0"/>
              </a:spcAft>
              <a:buClr>
                <a:schemeClr val="dk1"/>
              </a:buClr>
              <a:buSzPts val="1000"/>
              <a:buChar char="•"/>
            </a:pPr>
            <a:r>
              <a:rPr lang="fr-FR" sz="900" dirty="0">
                <a:solidFill>
                  <a:schemeClr val="dk1"/>
                </a:solidFill>
              </a:rPr>
              <a:t>Créer des variables décrivant l’environnement territorial : accessibilité des services, caractéristiques démographiques, contexte socio-économique et exposition à certains risques.</a:t>
            </a:r>
          </a:p>
          <a:p>
            <a:pPr marL="215900" lvl="0" indent="-215900" algn="l" rtl="0">
              <a:spcBef>
                <a:spcPts val="0"/>
              </a:spcBef>
              <a:spcAft>
                <a:spcPts val="0"/>
              </a:spcAft>
              <a:buClr>
                <a:schemeClr val="dk1"/>
              </a:buClr>
              <a:buSzPts val="1000"/>
              <a:buChar char="•"/>
            </a:pPr>
            <a:r>
              <a:rPr lang="fr-FR" sz="900" dirty="0">
                <a:solidFill>
                  <a:schemeClr val="dk1"/>
                </a:solidFill>
              </a:rPr>
              <a:t>Réaliser une segmentation des adhérents et identifier des opportunités de services ou d’offres</a:t>
            </a:r>
          </a:p>
        </p:txBody>
      </p:sp>
      <p:sp>
        <p:nvSpPr>
          <p:cNvPr id="242" name="Google Shape;242;p29"/>
          <p:cNvSpPr txBox="1"/>
          <p:nvPr/>
        </p:nvSpPr>
        <p:spPr>
          <a:xfrm>
            <a:off x="43220" y="4570567"/>
            <a:ext cx="4599861"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rgbClr val="FF5733"/>
                </a:solidFill>
              </a:rPr>
              <a:t>Environnement technique :</a:t>
            </a:r>
            <a:endParaRPr sz="1000" dirty="0">
              <a:solidFill>
                <a:schemeClr val="dk1"/>
              </a:solidFill>
            </a:endParaRPr>
          </a:p>
          <a:p>
            <a:pPr marL="0" lvl="0" indent="0" algn="l" rtl="0">
              <a:spcBef>
                <a:spcPts val="0"/>
              </a:spcBef>
              <a:spcAft>
                <a:spcPts val="0"/>
              </a:spcAft>
              <a:buNone/>
            </a:pPr>
            <a:r>
              <a:rPr lang="en" sz="900" dirty="0">
                <a:solidFill>
                  <a:schemeClr val="dk1"/>
                </a:solidFill>
              </a:rPr>
              <a:t>GCP, Geopandas, Python, SQL, Sklearn, AirfFlow, PowerBI, Github, </a:t>
            </a:r>
            <a:endParaRPr sz="900" b="1" dirty="0">
              <a:solidFill>
                <a:srgbClr val="FF5733"/>
              </a:solidFill>
            </a:endParaRPr>
          </a:p>
        </p:txBody>
      </p:sp>
      <p:sp>
        <p:nvSpPr>
          <p:cNvPr id="244" name="Google Shape;244;p29"/>
          <p:cNvSpPr txBox="1"/>
          <p:nvPr/>
        </p:nvSpPr>
        <p:spPr>
          <a:xfrm>
            <a:off x="1804795" y="656111"/>
            <a:ext cx="14043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dirty="0">
                <a:solidFill>
                  <a:schemeClr val="dk1"/>
                </a:solidFill>
                <a:latin typeface="Arial"/>
                <a:ea typeface="Arial"/>
                <a:cs typeface="Arial"/>
                <a:sym typeface="Arial"/>
              </a:rPr>
              <a:t>Data scientist</a:t>
            </a:r>
            <a:endParaRPr sz="1100" b="1" dirty="0">
              <a:solidFill>
                <a:schemeClr val="dk1"/>
              </a:solidFill>
              <a:latin typeface="Arial"/>
              <a:ea typeface="Arial"/>
              <a:cs typeface="Arial"/>
              <a:sym typeface="Arial"/>
            </a:endParaRPr>
          </a:p>
        </p:txBody>
      </p:sp>
      <p:sp>
        <p:nvSpPr>
          <p:cNvPr id="247" name="Google Shape;247;p29"/>
          <p:cNvSpPr txBox="1"/>
          <p:nvPr/>
        </p:nvSpPr>
        <p:spPr>
          <a:xfrm>
            <a:off x="6406828" y="555575"/>
            <a:ext cx="12618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49" name="Google Shape;249;p29"/>
          <p:cNvSpPr txBox="1"/>
          <p:nvPr/>
        </p:nvSpPr>
        <p:spPr>
          <a:xfrm>
            <a:off x="43220" y="1011921"/>
            <a:ext cx="4429200"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Projet 7 :</a:t>
            </a:r>
            <a:endParaRPr sz="1000" dirty="0">
              <a:solidFill>
                <a:schemeClr val="dk1"/>
              </a:solidFill>
            </a:endParaRPr>
          </a:p>
          <a:p>
            <a:pPr marL="0" lvl="0" indent="0" algn="just" rtl="0">
              <a:spcBef>
                <a:spcPts val="0"/>
              </a:spcBef>
              <a:spcAft>
                <a:spcPts val="0"/>
              </a:spcAft>
              <a:buNone/>
            </a:pPr>
            <a:r>
              <a:rPr lang="fr-FR" sz="900" dirty="0">
                <a:solidFill>
                  <a:schemeClr val="dk1"/>
                </a:solidFill>
              </a:rPr>
              <a:t>E</a:t>
            </a:r>
            <a:r>
              <a:rPr lang="en" sz="900" dirty="0">
                <a:solidFill>
                  <a:schemeClr val="dk1"/>
                </a:solidFill>
              </a:rPr>
              <a:t>nrichissement de la connaissance client en épargne retraite</a:t>
            </a:r>
            <a:endParaRPr sz="900" b="1" dirty="0">
              <a:solidFill>
                <a:schemeClr val="dk1"/>
              </a:solidFill>
            </a:endParaRPr>
          </a:p>
        </p:txBody>
      </p:sp>
      <p:sp>
        <p:nvSpPr>
          <p:cNvPr id="250" name="Google Shape;250;p29"/>
          <p:cNvSpPr txBox="1"/>
          <p:nvPr/>
        </p:nvSpPr>
        <p:spPr>
          <a:xfrm>
            <a:off x="4725900" y="1692502"/>
            <a:ext cx="4418100" cy="653995"/>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Contexte :</a:t>
            </a:r>
            <a:endParaRPr sz="1000" dirty="0">
              <a:solidFill>
                <a:schemeClr val="dk1"/>
              </a:solidFill>
            </a:endParaRPr>
          </a:p>
          <a:p>
            <a:pPr marL="0" lvl="0" indent="0" algn="just" rtl="0">
              <a:spcBef>
                <a:spcPts val="0"/>
              </a:spcBef>
              <a:spcAft>
                <a:spcPts val="0"/>
              </a:spcAft>
              <a:buClr>
                <a:schemeClr val="dk1"/>
              </a:buClr>
              <a:buFont typeface="Arial"/>
              <a:buNone/>
            </a:pPr>
            <a:r>
              <a:rPr lang="fr-FR" sz="900" dirty="0">
                <a:solidFill>
                  <a:schemeClr val="dk1"/>
                </a:solidFill>
              </a:rPr>
              <a:t>Des EHPAD du groupe souhaitent améliorer la détection des chutes et accélérer l’intervention du personnel. Le dispositif doit tenir compte des contraintes d’éclairage, des situations de vie courante et de la protection des résidents</a:t>
            </a:r>
            <a:r>
              <a:rPr lang="fr-FR" sz="1000" dirty="0">
                <a:solidFill>
                  <a:schemeClr val="dk1"/>
                </a:solidFill>
              </a:rPr>
              <a:t>. </a:t>
            </a:r>
            <a:endParaRPr sz="1000" b="1" dirty="0">
              <a:solidFill>
                <a:schemeClr val="dk1"/>
              </a:solidFill>
            </a:endParaRPr>
          </a:p>
        </p:txBody>
      </p:sp>
      <p:sp>
        <p:nvSpPr>
          <p:cNvPr id="251" name="Google Shape;251;p29"/>
          <p:cNvSpPr txBox="1"/>
          <p:nvPr/>
        </p:nvSpPr>
        <p:spPr>
          <a:xfrm>
            <a:off x="4742100" y="2727638"/>
            <a:ext cx="4486200" cy="1484992"/>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00" b="1" dirty="0">
                <a:solidFill>
                  <a:schemeClr val="dk1"/>
                </a:solidFill>
              </a:rPr>
              <a:t>Missions :</a:t>
            </a:r>
            <a:endParaRPr sz="1000" dirty="0">
              <a:solidFill>
                <a:schemeClr val="dk1"/>
              </a:solidFill>
            </a:endParaRPr>
          </a:p>
          <a:p>
            <a:pPr marL="215900" lvl="0" indent="-215900" algn="l" rtl="0">
              <a:spcBef>
                <a:spcPts val="0"/>
              </a:spcBef>
              <a:spcAft>
                <a:spcPts val="0"/>
              </a:spcAft>
              <a:buClr>
                <a:schemeClr val="dk1"/>
              </a:buClr>
              <a:buSzPts val="1000"/>
              <a:buChar char="•"/>
            </a:pPr>
            <a:r>
              <a:rPr lang="fr-FR" sz="900" dirty="0">
                <a:solidFill>
                  <a:schemeClr val="dk1"/>
                </a:solidFill>
              </a:rPr>
              <a:t>Recueillir les besoins des équipes soignantes, définir les situations à détecter et les critères d’acceptation.</a:t>
            </a:r>
          </a:p>
          <a:p>
            <a:pPr marL="215900" lvl="0" indent="-215900" algn="l" rtl="0">
              <a:spcBef>
                <a:spcPts val="0"/>
              </a:spcBef>
              <a:spcAft>
                <a:spcPts val="0"/>
              </a:spcAft>
              <a:buClr>
                <a:schemeClr val="dk1"/>
              </a:buClr>
              <a:buSzPts val="1000"/>
              <a:buChar char="•"/>
            </a:pPr>
            <a:r>
              <a:rPr lang="fr-FR" sz="900" dirty="0">
                <a:solidFill>
                  <a:schemeClr val="dk1"/>
                </a:solidFill>
              </a:rPr>
              <a:t>Coordonner les équipes métier, techniques et les interlocuteurs de protection des données.</a:t>
            </a:r>
          </a:p>
          <a:p>
            <a:pPr marL="215900" lvl="0" indent="-215900" algn="l" rtl="0">
              <a:spcBef>
                <a:spcPts val="0"/>
              </a:spcBef>
              <a:spcAft>
                <a:spcPts val="0"/>
              </a:spcAft>
              <a:buClr>
                <a:schemeClr val="dk1"/>
              </a:buClr>
              <a:buSzPts val="1000"/>
              <a:buChar char="•"/>
            </a:pPr>
            <a:r>
              <a:rPr lang="fr-FR" sz="900" dirty="0">
                <a:solidFill>
                  <a:schemeClr val="dk1"/>
                </a:solidFill>
              </a:rPr>
              <a:t>Comparer des approches de détection de posture et d’analyse temporelle, puis préparer les tests sur scénarios autorisés.</a:t>
            </a:r>
          </a:p>
          <a:p>
            <a:pPr marL="215900" lvl="0" indent="-215900" algn="l" rtl="0">
              <a:spcBef>
                <a:spcPts val="0"/>
              </a:spcBef>
              <a:spcAft>
                <a:spcPts val="0"/>
              </a:spcAft>
              <a:buClr>
                <a:schemeClr val="dk1"/>
              </a:buClr>
              <a:buSzPts val="1000"/>
              <a:buChar char="•"/>
            </a:pPr>
            <a:r>
              <a:rPr lang="fr-FR" sz="900" dirty="0">
                <a:solidFill>
                  <a:schemeClr val="dk1"/>
                </a:solidFill>
              </a:rPr>
              <a:t>Organiser le pilote, l’intégration du canal d’alerte et le suivi des faux positifs et des chutes manquées.</a:t>
            </a:r>
          </a:p>
          <a:p>
            <a:pPr marL="0" marR="0" lvl="0" indent="0" algn="l" rtl="0">
              <a:spcBef>
                <a:spcPts val="0"/>
              </a:spcBef>
              <a:spcAft>
                <a:spcPts val="0"/>
              </a:spcAft>
              <a:buNone/>
            </a:pPr>
            <a:endParaRPr sz="1000" b="1" dirty="0">
              <a:solidFill>
                <a:schemeClr val="dk1"/>
              </a:solidFill>
            </a:endParaRPr>
          </a:p>
        </p:txBody>
      </p:sp>
      <p:sp>
        <p:nvSpPr>
          <p:cNvPr id="252" name="Google Shape;252;p29"/>
          <p:cNvSpPr txBox="1"/>
          <p:nvPr/>
        </p:nvSpPr>
        <p:spPr>
          <a:xfrm>
            <a:off x="4686300" y="4445238"/>
            <a:ext cx="4542000" cy="5001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rgbClr val="FF5733"/>
                </a:solidFill>
              </a:rPr>
              <a:t>Environnement technique :</a:t>
            </a:r>
            <a:endParaRPr sz="1000" dirty="0">
              <a:solidFill>
                <a:schemeClr val="dk1"/>
              </a:solidFill>
            </a:endParaRPr>
          </a:p>
          <a:p>
            <a:pPr marL="0" lvl="0" indent="0" algn="l" rtl="0">
              <a:spcBef>
                <a:spcPts val="0"/>
              </a:spcBef>
              <a:spcAft>
                <a:spcPts val="0"/>
              </a:spcAft>
              <a:buNone/>
            </a:pPr>
            <a:r>
              <a:rPr lang="en" sz="900" dirty="0">
                <a:solidFill>
                  <a:schemeClr val="dk1"/>
                </a:solidFill>
              </a:rPr>
              <a:t>Python, Linux, Git , OpenCV, Pytorch, Modèle d’estimation YOLO pose, ONNX Runtime, FastAPI, Docker et PostgreSQL</a:t>
            </a:r>
            <a:endParaRPr sz="900" b="1" dirty="0">
              <a:solidFill>
                <a:srgbClr val="FF5733"/>
              </a:solidFill>
            </a:endParaRPr>
          </a:p>
        </p:txBody>
      </p:sp>
      <p:sp>
        <p:nvSpPr>
          <p:cNvPr id="253" name="Google Shape;253;p29"/>
          <p:cNvSpPr txBox="1"/>
          <p:nvPr/>
        </p:nvSpPr>
        <p:spPr>
          <a:xfrm>
            <a:off x="4722019" y="1098287"/>
            <a:ext cx="4393500"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Projet 8:</a:t>
            </a:r>
            <a:endParaRPr sz="1000" dirty="0">
              <a:solidFill>
                <a:schemeClr val="dk1"/>
              </a:solidFill>
            </a:endParaRPr>
          </a:p>
          <a:p>
            <a:pPr marL="0" lvl="0" indent="0" algn="just" rtl="0">
              <a:spcBef>
                <a:spcPts val="0"/>
              </a:spcBef>
              <a:spcAft>
                <a:spcPts val="0"/>
              </a:spcAft>
              <a:buNone/>
            </a:pPr>
            <a:r>
              <a:rPr lang="en" sz="900" dirty="0">
                <a:solidFill>
                  <a:schemeClr val="dk1"/>
                </a:solidFill>
              </a:rPr>
              <a:t>Détection de chute en EHPAD par computer vision</a:t>
            </a:r>
            <a:endParaRPr sz="900" b="1" dirty="0">
              <a:solidFill>
                <a:schemeClr val="dk1"/>
              </a:solidFill>
            </a:endParaRPr>
          </a:p>
        </p:txBody>
      </p:sp>
      <p:sp>
        <p:nvSpPr>
          <p:cNvPr id="3" name="Google Shape;199;p27">
            <a:extLst>
              <a:ext uri="{FF2B5EF4-FFF2-40B4-BE49-F238E27FC236}">
                <a16:creationId xmlns:a16="http://schemas.microsoft.com/office/drawing/2014/main" id="{F2D28D08-571E-11FF-40FC-8C1B852BFF5C}"/>
              </a:ext>
            </a:extLst>
          </p:cNvPr>
          <p:cNvSpPr txBox="1"/>
          <p:nvPr/>
        </p:nvSpPr>
        <p:spPr>
          <a:xfrm>
            <a:off x="1147594" y="269262"/>
            <a:ext cx="2363244" cy="715550"/>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 – Harmonie Mutuelle</a:t>
            </a:r>
            <a:endParaRPr lang="fr-FR" sz="1100" dirty="0"/>
          </a:p>
          <a:p>
            <a:pPr marL="0" lvl="0" indent="0" algn="ctr" rtl="0">
              <a:spcBef>
                <a:spcPts val="0"/>
              </a:spcBef>
              <a:spcAft>
                <a:spcPts val="0"/>
              </a:spcAft>
              <a:buNone/>
            </a:pPr>
            <a:endParaRPr b="1" dirty="0">
              <a:solidFill>
                <a:srgbClr val="FF5733"/>
              </a:solidFill>
            </a:endParaRPr>
          </a:p>
        </p:txBody>
      </p:sp>
      <p:sp>
        <p:nvSpPr>
          <p:cNvPr id="5" name="Google Shape;199;p27">
            <a:extLst>
              <a:ext uri="{FF2B5EF4-FFF2-40B4-BE49-F238E27FC236}">
                <a16:creationId xmlns:a16="http://schemas.microsoft.com/office/drawing/2014/main" id="{967FC945-37FC-C1DB-2849-86A10E8EF72A}"/>
              </a:ext>
            </a:extLst>
          </p:cNvPr>
          <p:cNvSpPr txBox="1"/>
          <p:nvPr/>
        </p:nvSpPr>
        <p:spPr>
          <a:xfrm>
            <a:off x="5998044" y="358801"/>
            <a:ext cx="2079368"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 – VYV3</a:t>
            </a:r>
            <a:endParaRPr lang="fr-FR" sz="1100" dirty="0"/>
          </a:p>
          <a:p>
            <a:pPr marL="0" lvl="0" indent="0" algn="ctr" rtl="0">
              <a:spcBef>
                <a:spcPts val="0"/>
              </a:spcBef>
              <a:spcAft>
                <a:spcPts val="0"/>
              </a:spcAft>
              <a:buNone/>
            </a:pPr>
            <a:endParaRPr b="1" dirty="0">
              <a:solidFill>
                <a:srgbClr val="FF5733"/>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02A1FF41-0799-5650-9697-DB1CF323B439}"/>
            </a:ext>
          </a:extLst>
        </p:cNvPr>
        <p:cNvGrpSpPr/>
        <p:nvPr/>
      </p:nvGrpSpPr>
      <p:grpSpPr>
        <a:xfrm>
          <a:off x="0" y="0"/>
          <a:ext cx="0" cy="0"/>
          <a:chOff x="0" y="0"/>
          <a:chExt cx="0" cy="0"/>
        </a:xfrm>
      </p:grpSpPr>
      <p:sp>
        <p:nvSpPr>
          <p:cNvPr id="214" name="Google Shape;214;p28">
            <a:extLst>
              <a:ext uri="{FF2B5EF4-FFF2-40B4-BE49-F238E27FC236}">
                <a16:creationId xmlns:a16="http://schemas.microsoft.com/office/drawing/2014/main" id="{01DAE19D-9AB6-2BC6-9CF8-C9EACA41B4BA}"/>
              </a:ext>
            </a:extLst>
          </p:cNvPr>
          <p:cNvSpPr/>
          <p:nvPr/>
        </p:nvSpPr>
        <p:spPr>
          <a:xfrm>
            <a:off x="0" y="4964906"/>
            <a:ext cx="9144000" cy="178500"/>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15" name="Google Shape;215;p28">
            <a:extLst>
              <a:ext uri="{FF2B5EF4-FFF2-40B4-BE49-F238E27FC236}">
                <a16:creationId xmlns:a16="http://schemas.microsoft.com/office/drawing/2014/main" id="{A0EE69E2-03EF-A21B-DDC9-652C6ACEB755}"/>
              </a:ext>
            </a:extLst>
          </p:cNvPr>
          <p:cNvPicPr preferRelativeResize="0"/>
          <p:nvPr/>
        </p:nvPicPr>
        <p:blipFill rotWithShape="1">
          <a:blip r:embed="rId3">
            <a:alphaModFix/>
          </a:blip>
          <a:srcRect l="12204" r="26409" b="13510"/>
          <a:stretch/>
        </p:blipFill>
        <p:spPr>
          <a:xfrm>
            <a:off x="85724" y="335013"/>
            <a:ext cx="4429128" cy="636290"/>
          </a:xfrm>
          <a:prstGeom prst="rect">
            <a:avLst/>
          </a:prstGeom>
          <a:noFill/>
          <a:ln w="38100" cap="flat" cmpd="sng">
            <a:solidFill>
              <a:srgbClr val="FF5733"/>
            </a:solidFill>
            <a:prstDash val="solid"/>
            <a:round/>
            <a:headEnd type="none" w="sm" len="sm"/>
            <a:tailEnd type="none" w="sm" len="sm"/>
          </a:ln>
        </p:spPr>
      </p:pic>
      <p:cxnSp>
        <p:nvCxnSpPr>
          <p:cNvPr id="216" name="Google Shape;216;p28">
            <a:extLst>
              <a:ext uri="{FF2B5EF4-FFF2-40B4-BE49-F238E27FC236}">
                <a16:creationId xmlns:a16="http://schemas.microsoft.com/office/drawing/2014/main" id="{16EEFA31-267B-A7E2-CE9D-33ACDE032DF2}"/>
              </a:ext>
            </a:extLst>
          </p:cNvPr>
          <p:cNvCxnSpPr/>
          <p:nvPr/>
        </p:nvCxnSpPr>
        <p:spPr>
          <a:xfrm>
            <a:off x="4629150" y="1100138"/>
            <a:ext cx="0" cy="3693300"/>
          </a:xfrm>
          <a:prstGeom prst="straightConnector1">
            <a:avLst/>
          </a:prstGeom>
          <a:noFill/>
          <a:ln w="57150" cap="flat" cmpd="sng">
            <a:solidFill>
              <a:srgbClr val="FF5733"/>
            </a:solidFill>
            <a:prstDash val="solid"/>
            <a:miter lim="800000"/>
            <a:headEnd type="none" w="sm" len="sm"/>
            <a:tailEnd type="none" w="sm" len="sm"/>
          </a:ln>
        </p:spPr>
      </p:cxnSp>
      <p:pic>
        <p:nvPicPr>
          <p:cNvPr id="217" name="Google Shape;217;p28">
            <a:extLst>
              <a:ext uri="{FF2B5EF4-FFF2-40B4-BE49-F238E27FC236}">
                <a16:creationId xmlns:a16="http://schemas.microsoft.com/office/drawing/2014/main" id="{07081CEB-5135-1D18-D70D-F9F2181183F5}"/>
              </a:ext>
            </a:extLst>
          </p:cNvPr>
          <p:cNvPicPr preferRelativeResize="0"/>
          <p:nvPr/>
        </p:nvPicPr>
        <p:blipFill rotWithShape="1">
          <a:blip r:embed="rId3">
            <a:alphaModFix/>
          </a:blip>
          <a:srcRect l="12204" r="26409" b="13510"/>
          <a:stretch/>
        </p:blipFill>
        <p:spPr>
          <a:xfrm>
            <a:off x="4722019" y="335013"/>
            <a:ext cx="4336256" cy="636290"/>
          </a:xfrm>
          <a:prstGeom prst="rect">
            <a:avLst/>
          </a:prstGeom>
          <a:noFill/>
          <a:ln w="38100" cap="flat" cmpd="sng">
            <a:solidFill>
              <a:srgbClr val="FF5733"/>
            </a:solidFill>
            <a:prstDash val="solid"/>
            <a:round/>
            <a:headEnd type="none" w="sm" len="sm"/>
            <a:tailEnd type="none" w="sm" len="sm"/>
          </a:ln>
        </p:spPr>
      </p:pic>
      <p:sp>
        <p:nvSpPr>
          <p:cNvPr id="218" name="Google Shape;218;p28">
            <a:extLst>
              <a:ext uri="{FF2B5EF4-FFF2-40B4-BE49-F238E27FC236}">
                <a16:creationId xmlns:a16="http://schemas.microsoft.com/office/drawing/2014/main" id="{695EB027-58EE-18D4-ECC1-6A23D9FB3499}"/>
              </a:ext>
            </a:extLst>
          </p:cNvPr>
          <p:cNvSpPr txBox="1"/>
          <p:nvPr/>
        </p:nvSpPr>
        <p:spPr>
          <a:xfrm>
            <a:off x="78400" y="1566003"/>
            <a:ext cx="4350900" cy="91560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marL="0" marR="0" lvl="0" indent="0" algn="just" rtl="0">
              <a:spcBef>
                <a:spcPts val="0"/>
              </a:spcBef>
              <a:spcAft>
                <a:spcPts val="0"/>
              </a:spcAft>
              <a:buNone/>
            </a:pPr>
            <a:r>
              <a:rPr lang="fr-FR" sz="900" dirty="0">
                <a:solidFill>
                  <a:schemeClr val="dk1"/>
                </a:solidFill>
                <a:latin typeface="+mn-lt"/>
                <a:ea typeface="Roboto"/>
                <a:cs typeface="Roboto"/>
                <a:sym typeface="Roboto"/>
              </a:rPr>
              <a:t>Les emails des adhérents sont orientés vers plusieurs équipes selon leur motif. Un taux de reroutage élevé entraîne des transferts supplémentaires et ralentit le traitement aux niveaux 1 et 2. Le projet vise à améliorer l’affectation dès réception. Le taux de reroutage a été réduit de 42 % à 5 %, soit 37 points de moins ; délai de réponse amélioré d’un jour en moyenne aux niveaux 1 et 2. </a:t>
            </a:r>
            <a:endParaRPr sz="900" dirty="0">
              <a:solidFill>
                <a:schemeClr val="dk1"/>
              </a:solidFill>
              <a:latin typeface="+mn-lt"/>
              <a:sym typeface="Arial"/>
            </a:endParaRPr>
          </a:p>
        </p:txBody>
      </p:sp>
      <p:sp>
        <p:nvSpPr>
          <p:cNvPr id="219" name="Google Shape;219;p28">
            <a:extLst>
              <a:ext uri="{FF2B5EF4-FFF2-40B4-BE49-F238E27FC236}">
                <a16:creationId xmlns:a16="http://schemas.microsoft.com/office/drawing/2014/main" id="{01C8DF30-6D00-5908-4924-E25D9A4904D7}"/>
              </a:ext>
            </a:extLst>
          </p:cNvPr>
          <p:cNvSpPr txBox="1"/>
          <p:nvPr/>
        </p:nvSpPr>
        <p:spPr>
          <a:xfrm>
            <a:off x="28651" y="2687173"/>
            <a:ext cx="4486200" cy="1338798"/>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50" b="1" dirty="0">
                <a:solidFill>
                  <a:schemeClr val="dk1"/>
                </a:solidFill>
                <a:highlight>
                  <a:srgbClr val="FFFFFF"/>
                </a:highlight>
                <a:latin typeface="Roboto"/>
                <a:ea typeface="Roboto"/>
                <a:cs typeface="Roboto"/>
                <a:sym typeface="Roboto"/>
              </a:rPr>
              <a:t>Missions :</a:t>
            </a:r>
            <a:endParaRPr sz="1050" b="1" dirty="0">
              <a:solidFill>
                <a:schemeClr val="dk1"/>
              </a:solidFill>
              <a:highlight>
                <a:srgbClr val="FFFFFF"/>
              </a:highlight>
              <a:latin typeface="Roboto"/>
              <a:ea typeface="Roboto"/>
              <a:cs typeface="Roboto"/>
              <a:sym typeface="Roboto"/>
            </a:endParaRP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Définir une taxonomie des motifs avec les équipes et constituer un historique d’emails annotés.</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Préparer les données, comparer une </a:t>
            </a:r>
            <a:r>
              <a:rPr lang="fr-FR" sz="900" dirty="0" err="1">
                <a:solidFill>
                  <a:schemeClr val="dk1"/>
                </a:solidFill>
                <a:highlight>
                  <a:srgbClr val="FFFFFF"/>
                </a:highlight>
                <a:latin typeface="+mn-lt"/>
                <a:ea typeface="Roboto"/>
                <a:cs typeface="Roboto"/>
                <a:sym typeface="Roboto"/>
              </a:rPr>
              <a:t>baseline</a:t>
            </a:r>
            <a:r>
              <a:rPr lang="fr-FR" sz="900" dirty="0">
                <a:solidFill>
                  <a:schemeClr val="dk1"/>
                </a:solidFill>
                <a:highlight>
                  <a:srgbClr val="FFFFFF"/>
                </a:highlight>
                <a:latin typeface="+mn-lt"/>
                <a:ea typeface="Roboto"/>
                <a:cs typeface="Roboto"/>
                <a:sym typeface="Roboto"/>
              </a:rPr>
              <a:t> et un modèle NLP, puis évaluer les résultats par catégorie.</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Prévoir un seuil de confiance et une reprise humaine pour les emails ambigus ou hors périmètre.</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Intégrer le service au circuit de traitement et suivre le reroutage, les délais et les évolutions de catégories.</a:t>
            </a:r>
          </a:p>
        </p:txBody>
      </p:sp>
      <p:sp>
        <p:nvSpPr>
          <p:cNvPr id="220" name="Google Shape;220;p28">
            <a:extLst>
              <a:ext uri="{FF2B5EF4-FFF2-40B4-BE49-F238E27FC236}">
                <a16:creationId xmlns:a16="http://schemas.microsoft.com/office/drawing/2014/main" id="{A5A5B68C-A4F0-FF45-78B9-4E415458F596}"/>
              </a:ext>
            </a:extLst>
          </p:cNvPr>
          <p:cNvSpPr txBox="1"/>
          <p:nvPr/>
        </p:nvSpPr>
        <p:spPr>
          <a:xfrm>
            <a:off x="29288" y="4308380"/>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highlight>
                  <a:srgbClr val="FFFFFF"/>
                </a:highlight>
                <a:latin typeface="+mn-lt"/>
                <a:ea typeface="Roboto"/>
                <a:cs typeface="Roboto"/>
                <a:sym typeface="Roboto"/>
              </a:rPr>
              <a:t>Python, pandas, Scikit-learn pour la baseline TF-IDF, Régression logistique, Transformers, Pytorch, FastAPI, docker, SQL, connecteurs CRM, M</a:t>
            </a:r>
            <a:r>
              <a:rPr lang="fr-FR" sz="900" dirty="0">
                <a:solidFill>
                  <a:schemeClr val="dk1"/>
                </a:solidFill>
                <a:highlight>
                  <a:srgbClr val="FFFFFF"/>
                </a:highlight>
                <a:latin typeface="+mn-lt"/>
                <a:ea typeface="Roboto"/>
                <a:cs typeface="Roboto"/>
                <a:sym typeface="Roboto"/>
              </a:rPr>
              <a:t>l</a:t>
            </a:r>
            <a:r>
              <a:rPr lang="en" sz="900" dirty="0">
                <a:solidFill>
                  <a:schemeClr val="dk1"/>
                </a:solidFill>
                <a:highlight>
                  <a:srgbClr val="FFFFFF"/>
                </a:highlight>
                <a:latin typeface="+mn-lt"/>
                <a:ea typeface="Roboto"/>
                <a:cs typeface="Roboto"/>
                <a:sym typeface="Roboto"/>
              </a:rPr>
              <a:t>flow,</a:t>
            </a:r>
            <a:endParaRPr sz="900" dirty="0">
              <a:solidFill>
                <a:schemeClr val="dk1"/>
              </a:solidFill>
              <a:latin typeface="+mn-lt"/>
              <a:ea typeface="Arial"/>
              <a:cs typeface="Arial"/>
              <a:sym typeface="Arial"/>
            </a:endParaRPr>
          </a:p>
        </p:txBody>
      </p:sp>
      <p:sp>
        <p:nvSpPr>
          <p:cNvPr id="222" name="Google Shape;222;p28">
            <a:extLst>
              <a:ext uri="{FF2B5EF4-FFF2-40B4-BE49-F238E27FC236}">
                <a16:creationId xmlns:a16="http://schemas.microsoft.com/office/drawing/2014/main" id="{9E330BA2-AE40-1BE9-7815-01A52D44086F}"/>
              </a:ext>
            </a:extLst>
          </p:cNvPr>
          <p:cNvSpPr txBox="1"/>
          <p:nvPr/>
        </p:nvSpPr>
        <p:spPr>
          <a:xfrm>
            <a:off x="1805544" y="545400"/>
            <a:ext cx="16443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25" name="Google Shape;225;p28">
            <a:extLst>
              <a:ext uri="{FF2B5EF4-FFF2-40B4-BE49-F238E27FC236}">
                <a16:creationId xmlns:a16="http://schemas.microsoft.com/office/drawing/2014/main" id="{459E7446-42C0-EB5C-C1E9-A1F00CEC4BDB}"/>
              </a:ext>
            </a:extLst>
          </p:cNvPr>
          <p:cNvSpPr txBox="1"/>
          <p:nvPr/>
        </p:nvSpPr>
        <p:spPr>
          <a:xfrm>
            <a:off x="6406830" y="555575"/>
            <a:ext cx="1487100" cy="238500"/>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a:solidFill>
                  <a:schemeClr val="dk1"/>
                </a:solidFill>
                <a:latin typeface="Arial"/>
                <a:ea typeface="Arial"/>
                <a:cs typeface="Arial"/>
                <a:sym typeface="Arial"/>
              </a:rPr>
              <a:t>Data scientist</a:t>
            </a:r>
            <a:endParaRPr sz="1100" b="1">
              <a:solidFill>
                <a:schemeClr val="dk1"/>
              </a:solidFill>
              <a:latin typeface="Arial"/>
              <a:ea typeface="Arial"/>
              <a:cs typeface="Arial"/>
              <a:sym typeface="Arial"/>
            </a:endParaRPr>
          </a:p>
        </p:txBody>
      </p:sp>
      <p:sp>
        <p:nvSpPr>
          <p:cNvPr id="227" name="Google Shape;227;p28">
            <a:extLst>
              <a:ext uri="{FF2B5EF4-FFF2-40B4-BE49-F238E27FC236}">
                <a16:creationId xmlns:a16="http://schemas.microsoft.com/office/drawing/2014/main" id="{B8734B41-0401-FE35-A10F-F36E38E96E8F}"/>
              </a:ext>
            </a:extLst>
          </p:cNvPr>
          <p:cNvSpPr txBox="1"/>
          <p:nvPr/>
        </p:nvSpPr>
        <p:spPr>
          <a:xfrm>
            <a:off x="85723" y="1044404"/>
            <a:ext cx="4215300" cy="3616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9:</a:t>
            </a:r>
            <a:endParaRPr sz="1000" dirty="0"/>
          </a:p>
          <a:p>
            <a:pPr marL="0" marR="0" lvl="0" indent="0" algn="l" rtl="0">
              <a:spcBef>
                <a:spcPts val="0"/>
              </a:spcBef>
              <a:spcAft>
                <a:spcPts val="0"/>
              </a:spcAft>
              <a:buNone/>
            </a:pPr>
            <a:r>
              <a:rPr lang="en" sz="900" dirty="0">
                <a:solidFill>
                  <a:schemeClr val="dk1"/>
                </a:solidFill>
                <a:highlight>
                  <a:srgbClr val="FFFFFF"/>
                </a:highlight>
                <a:latin typeface="Roboto"/>
                <a:ea typeface="Roboto"/>
                <a:cs typeface="Roboto"/>
                <a:sym typeface="Roboto"/>
              </a:rPr>
              <a:t>Classification et routage automatiques des emails adhérents</a:t>
            </a:r>
            <a:endParaRPr sz="900" dirty="0"/>
          </a:p>
        </p:txBody>
      </p:sp>
      <p:sp>
        <p:nvSpPr>
          <p:cNvPr id="228" name="Google Shape;228;p28">
            <a:extLst>
              <a:ext uri="{FF2B5EF4-FFF2-40B4-BE49-F238E27FC236}">
                <a16:creationId xmlns:a16="http://schemas.microsoft.com/office/drawing/2014/main" id="{446090B1-61AD-0D65-B7DD-B1ACEE1EF71B}"/>
              </a:ext>
            </a:extLst>
          </p:cNvPr>
          <p:cNvSpPr txBox="1"/>
          <p:nvPr/>
        </p:nvSpPr>
        <p:spPr>
          <a:xfrm>
            <a:off x="4714913" y="1656145"/>
            <a:ext cx="4393500" cy="915605"/>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Contexte :</a:t>
            </a:r>
            <a:endParaRPr sz="1000" dirty="0">
              <a:solidFill>
                <a:schemeClr val="dk1"/>
              </a:solidFill>
            </a:endParaRPr>
          </a:p>
          <a:p>
            <a:pPr marL="0" lvl="0" indent="0" algn="just" rtl="0">
              <a:spcBef>
                <a:spcPts val="0"/>
              </a:spcBef>
              <a:spcAft>
                <a:spcPts val="0"/>
              </a:spcAft>
              <a:buNone/>
            </a:pPr>
            <a:r>
              <a:rPr lang="fr-FR" sz="900" dirty="0">
                <a:solidFill>
                  <a:schemeClr val="dk1"/>
                </a:solidFill>
              </a:rPr>
              <a:t>Le département innovation et le pôle de suivi des franchises nécessitent une organisation plus lisible, des responsabilités clarifiées et des processus communs. Le projet cherche à améliorer la continuité des équipes et à limiter la dépendance à la sous traitance. Les résultats obtenus: une meilleure organisation, des processus standardisés et une baisse des coûts de sous traitance de 1,6M€/an.</a:t>
            </a:r>
            <a:endParaRPr sz="900" b="1" dirty="0">
              <a:solidFill>
                <a:schemeClr val="dk1"/>
              </a:solidFill>
            </a:endParaRPr>
          </a:p>
        </p:txBody>
      </p:sp>
      <p:sp>
        <p:nvSpPr>
          <p:cNvPr id="229" name="Google Shape;229;p28">
            <a:extLst>
              <a:ext uri="{FF2B5EF4-FFF2-40B4-BE49-F238E27FC236}">
                <a16:creationId xmlns:a16="http://schemas.microsoft.com/office/drawing/2014/main" id="{2A8D4B73-E4BE-1781-900F-9AC9C83B07C9}"/>
              </a:ext>
            </a:extLst>
          </p:cNvPr>
          <p:cNvSpPr txBox="1"/>
          <p:nvPr/>
        </p:nvSpPr>
        <p:spPr>
          <a:xfrm>
            <a:off x="4714913" y="2751691"/>
            <a:ext cx="4455433" cy="1469603"/>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00" b="1" dirty="0">
                <a:solidFill>
                  <a:schemeClr val="dk1"/>
                </a:solidFill>
              </a:rPr>
              <a:t>Missions :</a:t>
            </a:r>
            <a:endParaRPr sz="1000" dirty="0">
              <a:solidFill>
                <a:schemeClr val="dk1"/>
              </a:solidFill>
            </a:endParaRPr>
          </a:p>
          <a:p>
            <a:pPr marL="215900" lvl="0" indent="-215900" algn="l" rtl="0">
              <a:spcBef>
                <a:spcPts val="0"/>
              </a:spcBef>
              <a:spcAft>
                <a:spcPts val="0"/>
              </a:spcAft>
              <a:buClr>
                <a:schemeClr val="dk1"/>
              </a:buClr>
              <a:buSzPts val="1000"/>
              <a:buChar char="•"/>
            </a:pPr>
            <a:r>
              <a:rPr lang="fr-FR" sz="900" dirty="0">
                <a:solidFill>
                  <a:schemeClr val="dk1"/>
                </a:solidFill>
              </a:rPr>
              <a:t>Analyser l’organisation existante, la répartition des tâches et les besoins de compétences.</a:t>
            </a:r>
          </a:p>
          <a:p>
            <a:pPr marL="215900" lvl="0" indent="-215900" algn="l" rtl="0">
              <a:spcBef>
                <a:spcPts val="0"/>
              </a:spcBef>
              <a:spcAft>
                <a:spcPts val="0"/>
              </a:spcAft>
              <a:buClr>
                <a:schemeClr val="dk1"/>
              </a:buClr>
              <a:buSzPts val="1000"/>
              <a:buChar char="•"/>
            </a:pPr>
            <a:r>
              <a:rPr lang="fr-FR" sz="900" dirty="0">
                <a:solidFill>
                  <a:schemeClr val="dk1"/>
                </a:solidFill>
              </a:rPr>
              <a:t>Clarifier les rôles et interfaces, puis formaliser les processus de suivi des franchises.</a:t>
            </a:r>
          </a:p>
          <a:p>
            <a:pPr marL="215900" lvl="0" indent="-215900" algn="l" rtl="0">
              <a:spcBef>
                <a:spcPts val="0"/>
              </a:spcBef>
              <a:spcAft>
                <a:spcPts val="0"/>
              </a:spcAft>
              <a:buClr>
                <a:schemeClr val="dk1"/>
              </a:buClr>
              <a:buSzPts val="1000"/>
              <a:buChar char="•"/>
            </a:pPr>
            <a:r>
              <a:rPr lang="fr-FR" sz="900" dirty="0">
                <a:solidFill>
                  <a:schemeClr val="dk1"/>
                </a:solidFill>
              </a:rPr>
              <a:t>Cartographier les contrats, usages, échéances et couts</a:t>
            </a:r>
          </a:p>
          <a:p>
            <a:pPr marL="215900" lvl="0" indent="-215900" algn="l" rtl="0">
              <a:spcBef>
                <a:spcPts val="0"/>
              </a:spcBef>
              <a:spcAft>
                <a:spcPts val="0"/>
              </a:spcAft>
              <a:buClr>
                <a:schemeClr val="dk1"/>
              </a:buClr>
              <a:buSzPts val="1000"/>
              <a:buChar char="•"/>
            </a:pPr>
            <a:r>
              <a:rPr lang="fr-FR" sz="900" dirty="0">
                <a:solidFill>
                  <a:schemeClr val="dk1"/>
                </a:solidFill>
              </a:rPr>
              <a:t>Identifier les licences sous utilisées, les doublons et les leviers de renégociation.</a:t>
            </a:r>
          </a:p>
          <a:p>
            <a:pPr marL="215900" lvl="0" indent="-215900" algn="l" rtl="0">
              <a:spcBef>
                <a:spcPts val="0"/>
              </a:spcBef>
              <a:spcAft>
                <a:spcPts val="0"/>
              </a:spcAft>
              <a:buClr>
                <a:schemeClr val="dk1"/>
              </a:buClr>
              <a:buSzPts val="1000"/>
              <a:buChar char="•"/>
            </a:pPr>
            <a:r>
              <a:rPr lang="fr-FR" sz="900" dirty="0">
                <a:solidFill>
                  <a:schemeClr val="dk1"/>
                </a:solidFill>
              </a:rPr>
              <a:t>Coordonner les échanges fournisseurs, achats, juridique et équipes de diffusion.</a:t>
            </a:r>
          </a:p>
          <a:p>
            <a:pPr marL="215900" lvl="0" indent="-215900" algn="l" rtl="0">
              <a:spcBef>
                <a:spcPts val="0"/>
              </a:spcBef>
              <a:spcAft>
                <a:spcPts val="0"/>
              </a:spcAft>
              <a:buClr>
                <a:schemeClr val="dk1"/>
              </a:buClr>
              <a:buSzPts val="1000"/>
              <a:buChar char="•"/>
            </a:pPr>
            <a:r>
              <a:rPr lang="fr-FR" sz="900" dirty="0">
                <a:solidFill>
                  <a:schemeClr val="dk1"/>
                </a:solidFill>
              </a:rPr>
              <a:t>Suivre les économies et les engagements de service</a:t>
            </a:r>
          </a:p>
          <a:p>
            <a:pPr marL="215900" lvl="0" indent="-215900" algn="l" rtl="0">
              <a:spcBef>
                <a:spcPts val="0"/>
              </a:spcBef>
              <a:spcAft>
                <a:spcPts val="0"/>
              </a:spcAft>
              <a:buClr>
                <a:schemeClr val="dk1"/>
              </a:buClr>
              <a:buSzPts val="1000"/>
              <a:buChar char="•"/>
            </a:pPr>
            <a:r>
              <a:rPr lang="fr-FR" sz="900" dirty="0">
                <a:solidFill>
                  <a:schemeClr val="dk1"/>
                </a:solidFill>
              </a:rPr>
              <a:t>Mesurer les coûts de sous traitance, la charge et la qualité des livrables.</a:t>
            </a:r>
          </a:p>
        </p:txBody>
      </p:sp>
      <p:sp>
        <p:nvSpPr>
          <p:cNvPr id="230" name="Google Shape;230;p28">
            <a:extLst>
              <a:ext uri="{FF2B5EF4-FFF2-40B4-BE49-F238E27FC236}">
                <a16:creationId xmlns:a16="http://schemas.microsoft.com/office/drawing/2014/main" id="{12392AF0-C1A6-3664-469F-C9845A875A06}"/>
              </a:ext>
            </a:extLst>
          </p:cNvPr>
          <p:cNvSpPr txBox="1"/>
          <p:nvPr/>
        </p:nvSpPr>
        <p:spPr>
          <a:xfrm>
            <a:off x="4687013" y="4379065"/>
            <a:ext cx="4542000" cy="5001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rgbClr val="FF5733"/>
                </a:solidFill>
              </a:rPr>
              <a:t>Environnement technique :</a:t>
            </a:r>
            <a:endParaRPr sz="1000" dirty="0">
              <a:solidFill>
                <a:schemeClr val="dk1"/>
              </a:solidFill>
            </a:endParaRPr>
          </a:p>
          <a:p>
            <a:pPr marL="0" lvl="0" indent="0" algn="l" rtl="0">
              <a:spcBef>
                <a:spcPts val="0"/>
              </a:spcBef>
              <a:spcAft>
                <a:spcPts val="0"/>
              </a:spcAft>
              <a:buNone/>
            </a:pPr>
            <a:r>
              <a:rPr lang="fr-FR" sz="900" dirty="0">
                <a:solidFill>
                  <a:schemeClr val="dk1"/>
                </a:solidFill>
              </a:rPr>
              <a:t>matrice RACI, cartographie des processus, tableau de capacité, Power BI pour les indicateurs, Jira pour le suivi et la documentation</a:t>
            </a:r>
            <a:endParaRPr sz="900" b="1" dirty="0">
              <a:solidFill>
                <a:srgbClr val="FF5733"/>
              </a:solidFill>
            </a:endParaRPr>
          </a:p>
        </p:txBody>
      </p:sp>
      <p:sp>
        <p:nvSpPr>
          <p:cNvPr id="231" name="Google Shape;231;p28">
            <a:extLst>
              <a:ext uri="{FF2B5EF4-FFF2-40B4-BE49-F238E27FC236}">
                <a16:creationId xmlns:a16="http://schemas.microsoft.com/office/drawing/2014/main" id="{4E4032FA-527A-E208-99B8-474FECA4392C}"/>
              </a:ext>
            </a:extLst>
          </p:cNvPr>
          <p:cNvSpPr txBox="1"/>
          <p:nvPr/>
        </p:nvSpPr>
        <p:spPr>
          <a:xfrm>
            <a:off x="4714913" y="1087456"/>
            <a:ext cx="4393500" cy="36160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Font typeface="Arial"/>
              <a:buNone/>
            </a:pPr>
            <a:r>
              <a:rPr lang="en" sz="1000" b="1" dirty="0">
                <a:solidFill>
                  <a:schemeClr val="dk1"/>
                </a:solidFill>
              </a:rPr>
              <a:t>Projet 10:</a:t>
            </a:r>
            <a:endParaRPr sz="1000" dirty="0">
              <a:solidFill>
                <a:schemeClr val="dk1"/>
              </a:solidFill>
            </a:endParaRPr>
          </a:p>
          <a:p>
            <a:pPr marL="0" lvl="0" indent="0" algn="l" rtl="0">
              <a:spcBef>
                <a:spcPts val="0"/>
              </a:spcBef>
              <a:spcAft>
                <a:spcPts val="0"/>
              </a:spcAft>
              <a:buNone/>
            </a:pPr>
            <a:r>
              <a:rPr lang="fr-FR" sz="900" dirty="0">
                <a:solidFill>
                  <a:schemeClr val="dk1"/>
                </a:solidFill>
              </a:rPr>
              <a:t>Réorganisation du département innovation et du suivi des franchises</a:t>
            </a:r>
            <a:endParaRPr sz="900" b="1" dirty="0">
              <a:solidFill>
                <a:schemeClr val="dk1"/>
              </a:solidFill>
            </a:endParaRPr>
          </a:p>
        </p:txBody>
      </p:sp>
      <p:sp>
        <p:nvSpPr>
          <p:cNvPr id="3" name="Google Shape;199;p27">
            <a:extLst>
              <a:ext uri="{FF2B5EF4-FFF2-40B4-BE49-F238E27FC236}">
                <a16:creationId xmlns:a16="http://schemas.microsoft.com/office/drawing/2014/main" id="{C0FDEA87-47C5-828F-128F-B485BA684A4D}"/>
              </a:ext>
            </a:extLst>
          </p:cNvPr>
          <p:cNvSpPr txBox="1"/>
          <p:nvPr/>
        </p:nvSpPr>
        <p:spPr>
          <a:xfrm>
            <a:off x="6234672" y="326606"/>
            <a:ext cx="1344600"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Euronews</a:t>
            </a:r>
            <a:endParaRPr lang="fr-FR" sz="1100" dirty="0"/>
          </a:p>
          <a:p>
            <a:pPr marL="0" lvl="0" indent="0" algn="ctr" rtl="0">
              <a:spcBef>
                <a:spcPts val="0"/>
              </a:spcBef>
              <a:spcAft>
                <a:spcPts val="0"/>
              </a:spcAft>
              <a:buNone/>
            </a:pPr>
            <a:endParaRPr b="1" dirty="0">
              <a:solidFill>
                <a:srgbClr val="FF5733"/>
              </a:solidFill>
            </a:endParaRPr>
          </a:p>
        </p:txBody>
      </p:sp>
      <p:sp>
        <p:nvSpPr>
          <p:cNvPr id="5" name="Google Shape;199;p27">
            <a:extLst>
              <a:ext uri="{FF2B5EF4-FFF2-40B4-BE49-F238E27FC236}">
                <a16:creationId xmlns:a16="http://schemas.microsoft.com/office/drawing/2014/main" id="{CDD63452-234C-664B-2D49-DD780247D497}"/>
              </a:ext>
            </a:extLst>
          </p:cNvPr>
          <p:cNvSpPr txBox="1"/>
          <p:nvPr/>
        </p:nvSpPr>
        <p:spPr>
          <a:xfrm>
            <a:off x="1490886" y="305521"/>
            <a:ext cx="1929686"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Groupe VYV - MGEN</a:t>
            </a:r>
            <a:endParaRPr lang="fr-FR" sz="1100" dirty="0"/>
          </a:p>
          <a:p>
            <a:pPr marL="0" lvl="0" indent="0" algn="ctr" rtl="0">
              <a:spcBef>
                <a:spcPts val="0"/>
              </a:spcBef>
              <a:spcAft>
                <a:spcPts val="0"/>
              </a:spcAft>
              <a:buNone/>
            </a:pPr>
            <a:endParaRPr b="1" dirty="0">
              <a:solidFill>
                <a:srgbClr val="FF5733"/>
              </a:solidFill>
            </a:endParaRPr>
          </a:p>
        </p:txBody>
      </p:sp>
    </p:spTree>
    <p:extLst>
      <p:ext uri="{BB962C8B-B14F-4D97-AF65-F5344CB8AC3E}">
        <p14:creationId xmlns:p14="http://schemas.microsoft.com/office/powerpoint/2010/main" val="376973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13">
          <a:extLst>
            <a:ext uri="{FF2B5EF4-FFF2-40B4-BE49-F238E27FC236}">
              <a16:creationId xmlns:a16="http://schemas.microsoft.com/office/drawing/2014/main" id="{9C48CA97-F953-D3FC-AC17-AD8899B213D6}"/>
            </a:ext>
          </a:extLst>
        </p:cNvPr>
        <p:cNvGrpSpPr/>
        <p:nvPr/>
      </p:nvGrpSpPr>
      <p:grpSpPr>
        <a:xfrm>
          <a:off x="0" y="0"/>
          <a:ext cx="0" cy="0"/>
          <a:chOff x="0" y="0"/>
          <a:chExt cx="0" cy="0"/>
        </a:xfrm>
      </p:grpSpPr>
      <p:sp>
        <p:nvSpPr>
          <p:cNvPr id="214" name="Google Shape;214;p28">
            <a:extLst>
              <a:ext uri="{FF2B5EF4-FFF2-40B4-BE49-F238E27FC236}">
                <a16:creationId xmlns:a16="http://schemas.microsoft.com/office/drawing/2014/main" id="{BD019328-8319-A89B-BD25-347308F9D50B}"/>
              </a:ext>
            </a:extLst>
          </p:cNvPr>
          <p:cNvSpPr/>
          <p:nvPr/>
        </p:nvSpPr>
        <p:spPr>
          <a:xfrm>
            <a:off x="0" y="4964906"/>
            <a:ext cx="9144000" cy="178500"/>
          </a:xfrm>
          <a:prstGeom prst="rect">
            <a:avLst/>
          </a:prstGeom>
          <a:solidFill>
            <a:srgbClr val="FF5733"/>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chemeClr val="lt1"/>
              </a:solidFill>
              <a:latin typeface="Arial"/>
              <a:ea typeface="Arial"/>
              <a:cs typeface="Arial"/>
              <a:sym typeface="Arial"/>
            </a:endParaRPr>
          </a:p>
        </p:txBody>
      </p:sp>
      <p:pic>
        <p:nvPicPr>
          <p:cNvPr id="215" name="Google Shape;215;p28">
            <a:extLst>
              <a:ext uri="{FF2B5EF4-FFF2-40B4-BE49-F238E27FC236}">
                <a16:creationId xmlns:a16="http://schemas.microsoft.com/office/drawing/2014/main" id="{43BF0D4D-08C3-EB65-84AF-5FDB51439389}"/>
              </a:ext>
            </a:extLst>
          </p:cNvPr>
          <p:cNvPicPr preferRelativeResize="0"/>
          <p:nvPr/>
        </p:nvPicPr>
        <p:blipFill rotWithShape="1">
          <a:blip r:embed="rId3">
            <a:alphaModFix/>
          </a:blip>
          <a:srcRect l="12204" r="26409" b="13510"/>
          <a:stretch/>
        </p:blipFill>
        <p:spPr>
          <a:xfrm>
            <a:off x="85724" y="335013"/>
            <a:ext cx="4429128" cy="636290"/>
          </a:xfrm>
          <a:prstGeom prst="rect">
            <a:avLst/>
          </a:prstGeom>
          <a:noFill/>
          <a:ln w="38100" cap="flat" cmpd="sng">
            <a:solidFill>
              <a:srgbClr val="FF5733"/>
            </a:solidFill>
            <a:prstDash val="solid"/>
            <a:round/>
            <a:headEnd type="none" w="sm" len="sm"/>
            <a:tailEnd type="none" w="sm" len="sm"/>
          </a:ln>
        </p:spPr>
      </p:pic>
      <p:cxnSp>
        <p:nvCxnSpPr>
          <p:cNvPr id="216" name="Google Shape;216;p28">
            <a:extLst>
              <a:ext uri="{FF2B5EF4-FFF2-40B4-BE49-F238E27FC236}">
                <a16:creationId xmlns:a16="http://schemas.microsoft.com/office/drawing/2014/main" id="{41F4646A-5454-C61D-F432-29C09EE50494}"/>
              </a:ext>
            </a:extLst>
          </p:cNvPr>
          <p:cNvCxnSpPr/>
          <p:nvPr/>
        </p:nvCxnSpPr>
        <p:spPr>
          <a:xfrm>
            <a:off x="4629150" y="1100138"/>
            <a:ext cx="0" cy="3693300"/>
          </a:xfrm>
          <a:prstGeom prst="straightConnector1">
            <a:avLst/>
          </a:prstGeom>
          <a:noFill/>
          <a:ln w="57150" cap="flat" cmpd="sng">
            <a:solidFill>
              <a:srgbClr val="FF5733"/>
            </a:solidFill>
            <a:prstDash val="solid"/>
            <a:miter lim="800000"/>
            <a:headEnd type="none" w="sm" len="sm"/>
            <a:tailEnd type="none" w="sm" len="sm"/>
          </a:ln>
        </p:spPr>
      </p:cxnSp>
      <p:sp>
        <p:nvSpPr>
          <p:cNvPr id="218" name="Google Shape;218;p28">
            <a:extLst>
              <a:ext uri="{FF2B5EF4-FFF2-40B4-BE49-F238E27FC236}">
                <a16:creationId xmlns:a16="http://schemas.microsoft.com/office/drawing/2014/main" id="{5BE9880F-A23C-80E5-90D2-D2325C0B044F}"/>
              </a:ext>
            </a:extLst>
          </p:cNvPr>
          <p:cNvSpPr txBox="1"/>
          <p:nvPr/>
        </p:nvSpPr>
        <p:spPr>
          <a:xfrm>
            <a:off x="84096" y="1673291"/>
            <a:ext cx="4350900" cy="915605"/>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Contexte :</a:t>
            </a:r>
            <a:endParaRPr sz="1000" dirty="0"/>
          </a:p>
          <a:p>
            <a:pPr algn="just"/>
            <a:r>
              <a:rPr lang="fr-FR" sz="900" dirty="0"/>
              <a:t>Dans un environnement international de recherche et développement chez Microsoft, collaboration avec des équipes métier et techniques sur des projets d’intelligence artificielle conversationnelle</a:t>
            </a:r>
            <a:r>
              <a:rPr lang="fr-FR" sz="900" dirty="0">
                <a:solidFill>
                  <a:schemeClr val="dk1"/>
                </a:solidFill>
                <a:latin typeface="+mn-lt"/>
                <a:ea typeface="Roboto"/>
                <a:cs typeface="Roboto"/>
                <a:sym typeface="Roboto"/>
              </a:rPr>
              <a:t>. </a:t>
            </a:r>
            <a:r>
              <a:rPr lang="fr-FR" sz="900" dirty="0"/>
              <a:t>Les travaux visaient à améliorer la compréhension des demandes utilisateurs et la pertinence des interactions avec les assistants conversationnels.</a:t>
            </a:r>
          </a:p>
        </p:txBody>
      </p:sp>
      <p:sp>
        <p:nvSpPr>
          <p:cNvPr id="219" name="Google Shape;219;p28">
            <a:extLst>
              <a:ext uri="{FF2B5EF4-FFF2-40B4-BE49-F238E27FC236}">
                <a16:creationId xmlns:a16="http://schemas.microsoft.com/office/drawing/2014/main" id="{6EA3B0B6-C49E-B48F-C544-FCDE8EAAADF6}"/>
              </a:ext>
            </a:extLst>
          </p:cNvPr>
          <p:cNvSpPr txBox="1"/>
          <p:nvPr/>
        </p:nvSpPr>
        <p:spPr>
          <a:xfrm>
            <a:off x="84096" y="2647020"/>
            <a:ext cx="4486200" cy="1615797"/>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None/>
            </a:pPr>
            <a:r>
              <a:rPr lang="en" sz="1050" b="1" dirty="0">
                <a:solidFill>
                  <a:schemeClr val="dk1"/>
                </a:solidFill>
                <a:highlight>
                  <a:srgbClr val="FFFFFF"/>
                </a:highlight>
                <a:latin typeface="+mn-lt"/>
                <a:ea typeface="Roboto"/>
                <a:cs typeface="Roboto"/>
                <a:sym typeface="Roboto"/>
              </a:rPr>
              <a:t>Missions :</a:t>
            </a:r>
            <a:endParaRPr sz="1050" b="1" dirty="0">
              <a:solidFill>
                <a:schemeClr val="dk1"/>
              </a:solidFill>
              <a:highlight>
                <a:srgbClr val="FFFFFF"/>
              </a:highlight>
              <a:latin typeface="+mn-lt"/>
              <a:ea typeface="Roboto"/>
              <a:cs typeface="Roboto"/>
              <a:sym typeface="Roboto"/>
            </a:endParaRP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Préparer les corpus conversationnels avec Python et pandas : nettoyage, contrôle des annotations et séparation des données d’entraînement, de validation et de test.</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Entraîner et comparer les modèles de classification des intentions dans Azure Machine Learning, en suivant les paramètres et les métriques avec </a:t>
            </a:r>
            <a:r>
              <a:rPr lang="fr-FR" sz="900" dirty="0" err="1">
                <a:solidFill>
                  <a:schemeClr val="dk1"/>
                </a:solidFill>
                <a:highlight>
                  <a:srgbClr val="FFFFFF"/>
                </a:highlight>
                <a:latin typeface="+mn-lt"/>
                <a:ea typeface="Roboto"/>
                <a:cs typeface="Roboto"/>
                <a:sym typeface="Roboto"/>
              </a:rPr>
              <a:t>MLflow</a:t>
            </a:r>
            <a:r>
              <a:rPr lang="fr-FR" sz="900" dirty="0">
                <a:solidFill>
                  <a:schemeClr val="dk1"/>
                </a:solidFill>
                <a:highlight>
                  <a:srgbClr val="FFFFFF"/>
                </a:highlight>
                <a:latin typeface="+mn-lt"/>
                <a:ea typeface="Roboto"/>
                <a:cs typeface="Roboto"/>
                <a:sym typeface="Roboto"/>
              </a:rPr>
              <a:t>.</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Analyser les performances à partir du F1-score, du rappel par intention et des matrices de confusion, puis ajuster les seuils de confiance.</a:t>
            </a:r>
          </a:p>
          <a:p>
            <a:pPr marL="457200" lvl="0" indent="-292100" algn="l" rtl="0">
              <a:spcBef>
                <a:spcPts val="0"/>
              </a:spcBef>
              <a:spcAft>
                <a:spcPts val="0"/>
              </a:spcAft>
              <a:buClr>
                <a:schemeClr val="dk1"/>
              </a:buClr>
              <a:buSzPts val="1000"/>
              <a:buChar char="•"/>
            </a:pPr>
            <a:r>
              <a:rPr lang="fr-FR" sz="900" dirty="0">
                <a:solidFill>
                  <a:schemeClr val="dk1"/>
                </a:solidFill>
                <a:highlight>
                  <a:srgbClr val="FFFFFF"/>
                </a:highlight>
                <a:latin typeface="+mn-lt"/>
                <a:ea typeface="Roboto"/>
                <a:cs typeface="Roboto"/>
                <a:sym typeface="Roboto"/>
              </a:rPr>
              <a:t>Tester l’inférence via API REST : vérifier les prédictions, mesurer la latence et contrôler le traitement des requêtes ambiguës ou hors périmètre.</a:t>
            </a:r>
          </a:p>
        </p:txBody>
      </p:sp>
      <p:sp>
        <p:nvSpPr>
          <p:cNvPr id="220" name="Google Shape;220;p28">
            <a:extLst>
              <a:ext uri="{FF2B5EF4-FFF2-40B4-BE49-F238E27FC236}">
                <a16:creationId xmlns:a16="http://schemas.microsoft.com/office/drawing/2014/main" id="{3987A49E-11D4-4753-4BF8-AEEA088D0792}"/>
              </a:ext>
            </a:extLst>
          </p:cNvPr>
          <p:cNvSpPr txBox="1"/>
          <p:nvPr/>
        </p:nvSpPr>
        <p:spPr>
          <a:xfrm>
            <a:off x="35589" y="4379065"/>
            <a:ext cx="45420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rgbClr val="FF5733"/>
                </a:solidFill>
                <a:latin typeface="Arial"/>
                <a:ea typeface="Arial"/>
                <a:cs typeface="Arial"/>
                <a:sym typeface="Arial"/>
              </a:rPr>
              <a:t>Environnement technique :</a:t>
            </a:r>
            <a:endParaRPr sz="1000" dirty="0"/>
          </a:p>
          <a:p>
            <a:pPr marL="0" marR="0" lvl="0" indent="0" algn="l" rtl="0">
              <a:spcBef>
                <a:spcPts val="0"/>
              </a:spcBef>
              <a:spcAft>
                <a:spcPts val="0"/>
              </a:spcAft>
              <a:buNone/>
            </a:pPr>
            <a:r>
              <a:rPr lang="en" sz="900" dirty="0">
                <a:solidFill>
                  <a:schemeClr val="dk1"/>
                </a:solidFill>
                <a:highlight>
                  <a:srgbClr val="FFFFFF"/>
                </a:highlight>
                <a:latin typeface="+mn-lt"/>
                <a:ea typeface="Roboto"/>
                <a:cs typeface="Roboto"/>
                <a:sym typeface="Roboto"/>
              </a:rPr>
              <a:t>Python, Azure Machine Learning et M</a:t>
            </a:r>
            <a:r>
              <a:rPr lang="fr-FR" sz="900" dirty="0">
                <a:solidFill>
                  <a:schemeClr val="dk1"/>
                </a:solidFill>
                <a:highlight>
                  <a:srgbClr val="FFFFFF"/>
                </a:highlight>
                <a:latin typeface="+mn-lt"/>
                <a:ea typeface="Roboto"/>
                <a:cs typeface="Roboto"/>
                <a:sym typeface="Roboto"/>
              </a:rPr>
              <a:t>l</a:t>
            </a:r>
            <a:r>
              <a:rPr lang="en" sz="900" dirty="0">
                <a:solidFill>
                  <a:schemeClr val="dk1"/>
                </a:solidFill>
                <a:highlight>
                  <a:srgbClr val="FFFFFF"/>
                </a:highlight>
                <a:latin typeface="+mn-lt"/>
                <a:ea typeface="Roboto"/>
                <a:cs typeface="Roboto"/>
                <a:sym typeface="Roboto"/>
              </a:rPr>
              <a:t>flow, Azure AI Language, Azure AI Speech, Azure Blob Storage</a:t>
            </a:r>
            <a:endParaRPr sz="900" dirty="0">
              <a:solidFill>
                <a:schemeClr val="dk1"/>
              </a:solidFill>
              <a:latin typeface="+mn-lt"/>
              <a:ea typeface="Arial"/>
              <a:cs typeface="Arial"/>
              <a:sym typeface="Arial"/>
            </a:endParaRPr>
          </a:p>
        </p:txBody>
      </p:sp>
      <p:sp>
        <p:nvSpPr>
          <p:cNvPr id="222" name="Google Shape;222;p28">
            <a:extLst>
              <a:ext uri="{FF2B5EF4-FFF2-40B4-BE49-F238E27FC236}">
                <a16:creationId xmlns:a16="http://schemas.microsoft.com/office/drawing/2014/main" id="{81179C63-6B1F-50EC-BF17-D365CE0F59A9}"/>
              </a:ext>
            </a:extLst>
          </p:cNvPr>
          <p:cNvSpPr txBox="1"/>
          <p:nvPr/>
        </p:nvSpPr>
        <p:spPr>
          <a:xfrm>
            <a:off x="1581460" y="631778"/>
            <a:ext cx="1929686" cy="23849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100" b="1" dirty="0">
                <a:solidFill>
                  <a:schemeClr val="dk1"/>
                </a:solidFill>
                <a:latin typeface="Arial"/>
                <a:ea typeface="Arial"/>
                <a:cs typeface="Arial"/>
                <a:sym typeface="Arial"/>
              </a:rPr>
              <a:t>Chercheur Data scientist</a:t>
            </a:r>
            <a:endParaRPr sz="1100" b="1" dirty="0">
              <a:solidFill>
                <a:schemeClr val="dk1"/>
              </a:solidFill>
              <a:latin typeface="Arial"/>
              <a:ea typeface="Arial"/>
              <a:cs typeface="Arial"/>
              <a:sym typeface="Arial"/>
            </a:endParaRPr>
          </a:p>
        </p:txBody>
      </p:sp>
      <p:sp>
        <p:nvSpPr>
          <p:cNvPr id="227" name="Google Shape;227;p28">
            <a:extLst>
              <a:ext uri="{FF2B5EF4-FFF2-40B4-BE49-F238E27FC236}">
                <a16:creationId xmlns:a16="http://schemas.microsoft.com/office/drawing/2014/main" id="{C62CA50D-BE7C-2509-A165-4FC4246A0634}"/>
              </a:ext>
            </a:extLst>
          </p:cNvPr>
          <p:cNvSpPr txBox="1"/>
          <p:nvPr/>
        </p:nvSpPr>
        <p:spPr>
          <a:xfrm>
            <a:off x="84096" y="1057037"/>
            <a:ext cx="4215300" cy="500107"/>
          </a:xfrm>
          <a:prstGeom prst="rect">
            <a:avLst/>
          </a:prstGeom>
          <a:noFill/>
          <a:ln>
            <a:noFill/>
          </a:ln>
        </p:spPr>
        <p:txBody>
          <a:bodyPr spcFirstLastPara="1" wrap="square" lIns="68575" tIns="34275" rIns="68575" bIns="34275" anchor="t" anchorCtr="0">
            <a:spAutoFit/>
          </a:bodyPr>
          <a:lstStyle/>
          <a:p>
            <a:pPr marL="0" marR="0" lvl="0" indent="0" algn="l" rtl="0">
              <a:spcBef>
                <a:spcPts val="0"/>
              </a:spcBef>
              <a:spcAft>
                <a:spcPts val="0"/>
              </a:spcAft>
              <a:buNone/>
            </a:pPr>
            <a:r>
              <a:rPr lang="en" sz="1000" b="1" dirty="0">
                <a:solidFill>
                  <a:schemeClr val="dk1"/>
                </a:solidFill>
                <a:latin typeface="Arial"/>
                <a:ea typeface="Arial"/>
                <a:cs typeface="Arial"/>
                <a:sym typeface="Arial"/>
              </a:rPr>
              <a:t>Projet 11:</a:t>
            </a:r>
            <a:endParaRPr sz="1000" dirty="0"/>
          </a:p>
          <a:p>
            <a:pPr marL="0" marR="0" lvl="0" indent="0" algn="l" rtl="0">
              <a:spcBef>
                <a:spcPts val="0"/>
              </a:spcBef>
              <a:spcAft>
                <a:spcPts val="0"/>
              </a:spcAft>
              <a:buNone/>
            </a:pPr>
            <a:r>
              <a:rPr lang="en" sz="900" dirty="0">
                <a:solidFill>
                  <a:schemeClr val="dk1"/>
                </a:solidFill>
                <a:highlight>
                  <a:srgbClr val="FFFFFF"/>
                </a:highlight>
                <a:latin typeface="Roboto"/>
                <a:ea typeface="Roboto"/>
                <a:cs typeface="Roboto"/>
                <a:sym typeface="Roboto"/>
              </a:rPr>
              <a:t>Développement et évaluation de modèles de compréhension du langage pour assistants conversationnels.</a:t>
            </a:r>
            <a:endParaRPr sz="900" dirty="0"/>
          </a:p>
        </p:txBody>
      </p:sp>
      <p:sp>
        <p:nvSpPr>
          <p:cNvPr id="5" name="Google Shape;199;p27">
            <a:extLst>
              <a:ext uri="{FF2B5EF4-FFF2-40B4-BE49-F238E27FC236}">
                <a16:creationId xmlns:a16="http://schemas.microsoft.com/office/drawing/2014/main" id="{7C83A7D7-94E2-607A-69F7-518896DDE60E}"/>
              </a:ext>
            </a:extLst>
          </p:cNvPr>
          <p:cNvSpPr txBox="1"/>
          <p:nvPr/>
        </p:nvSpPr>
        <p:spPr>
          <a:xfrm>
            <a:off x="1490886" y="371304"/>
            <a:ext cx="1929686" cy="500107"/>
          </a:xfrm>
          <a:prstGeom prst="rect">
            <a:avLst/>
          </a:prstGeom>
          <a:noFill/>
          <a:ln>
            <a:noFill/>
          </a:ln>
        </p:spPr>
        <p:txBody>
          <a:bodyPr spcFirstLastPara="1" wrap="square" lIns="68575" tIns="34275" rIns="68575" bIns="34275" anchor="t" anchorCtr="0">
            <a:spAutoFit/>
          </a:bodyPr>
          <a:lstStyle/>
          <a:p>
            <a:pPr algn="ctr"/>
            <a:r>
              <a:rPr lang="fr-FR" b="1" dirty="0">
                <a:solidFill>
                  <a:srgbClr val="FF5733"/>
                </a:solidFill>
              </a:rPr>
              <a:t>Microsoft</a:t>
            </a:r>
            <a:endParaRPr lang="fr-FR" sz="1100" dirty="0"/>
          </a:p>
          <a:p>
            <a:pPr marL="0" lvl="0" indent="0" algn="ctr" rtl="0">
              <a:spcBef>
                <a:spcPts val="0"/>
              </a:spcBef>
              <a:spcAft>
                <a:spcPts val="0"/>
              </a:spcAft>
              <a:buNone/>
            </a:pPr>
            <a:endParaRPr b="1" dirty="0">
              <a:solidFill>
                <a:srgbClr val="FF5733"/>
              </a:solidFill>
            </a:endParaRPr>
          </a:p>
        </p:txBody>
      </p:sp>
    </p:spTree>
    <p:extLst>
      <p:ext uri="{BB962C8B-B14F-4D97-AF65-F5344CB8AC3E}">
        <p14:creationId xmlns:p14="http://schemas.microsoft.com/office/powerpoint/2010/main" val="322360288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2597</TotalTime>
  <Words>2443</Words>
  <Application>Microsoft Office PowerPoint</Application>
  <PresentationFormat>Affichage à l'écran (16:9)</PresentationFormat>
  <Paragraphs>209</Paragraphs>
  <Slides>7</Slides>
  <Notes>7</Notes>
  <HiddenSlides>0</HiddenSlides>
  <MMClips>0</MMClips>
  <ScaleCrop>false</ScaleCrop>
  <HeadingPairs>
    <vt:vector size="6" baseType="variant">
      <vt:variant>
        <vt:lpstr>Polices utilisées</vt:lpstr>
      </vt:variant>
      <vt:variant>
        <vt:i4>5</vt:i4>
      </vt:variant>
      <vt:variant>
        <vt:lpstr>Thème</vt:lpstr>
      </vt:variant>
      <vt:variant>
        <vt:i4>2</vt:i4>
      </vt:variant>
      <vt:variant>
        <vt:lpstr>Titres des diapositives</vt:lpstr>
      </vt:variant>
      <vt:variant>
        <vt:i4>7</vt:i4>
      </vt:variant>
    </vt:vector>
  </HeadingPairs>
  <TitlesOfParts>
    <vt:vector size="14" baseType="lpstr">
      <vt:lpstr>Calibri</vt:lpstr>
      <vt:lpstr>Arial</vt:lpstr>
      <vt:lpstr>Play</vt:lpstr>
      <vt:lpstr>Aharoni</vt:lpstr>
      <vt:lpstr>Roboto</vt:lpstr>
      <vt:lpstr>Simple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DALLE Yvonne</cp:lastModifiedBy>
  <cp:revision>6</cp:revision>
  <dcterms:modified xsi:type="dcterms:W3CDTF">2026-10-23T08:03:47Z</dcterms:modified>
</cp:coreProperties>
</file>